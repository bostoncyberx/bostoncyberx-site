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sky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6776"/>
            <a:ext cx="12191695" cy="5168771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12191695" cy="4160520"/>
          </a:xfrm>
          <a:prstGeom prst="roundRect">
            <a:avLst>
              <a:gd name="adj" fmla="val 0"/>
            </a:avLst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200" b="1">
                <a:solidFill>
                  <a:srgbClr val="F8FAFC"/>
                </a:solidFill>
                <a:latin typeface="Archivo"/>
              </a:rPr>
              <a:t>bostoncyber</a:t>
            </a:r>
            <a:r>
              <a:rPr sz="2200" b="1">
                <a:solidFill>
                  <a:srgbClr val="FF3B30"/>
                </a:solidFill>
                <a:latin typeface="Archivo"/>
              </a:rPr>
              <a:t>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3B82F6"/>
                </a:solidFill>
                <a:latin typeface="Archivo"/>
              </a:rPr>
              <a:t>Transform</a:t>
            </a:r>
            <a:r>
              <a:rPr sz="3000" b="1">
                <a:solidFill>
                  <a:srgbClr val="F8FAFC"/>
                </a:solidFill>
                <a:latin typeface="Archivo"/>
              </a:rPr>
              <a:t> with AI.   </a:t>
            </a:r>
            <a:r>
              <a:rPr sz="3000" b="1">
                <a:solidFill>
                  <a:srgbClr val="22D3EE"/>
                </a:solidFill>
                <a:latin typeface="Archivo"/>
              </a:rPr>
              <a:t>Defend</a:t>
            </a:r>
            <a:r>
              <a:rPr sz="3000" b="1">
                <a:solidFill>
                  <a:srgbClr val="F8FAFC"/>
                </a:solidFill>
                <a:latin typeface="Archivo"/>
              </a:rPr>
              <a:t> with AI.   </a:t>
            </a:r>
            <a:r>
              <a:rPr sz="3000" b="1">
                <a:solidFill>
                  <a:srgbClr val="34D399"/>
                </a:solidFill>
                <a:latin typeface="Archivo"/>
              </a:rPr>
              <a:t>Achieve</a:t>
            </a:r>
            <a:r>
              <a:rPr sz="3000" b="1">
                <a:solidFill>
                  <a:srgbClr val="F8FAFC"/>
                </a:solidFill>
                <a:latin typeface="Archivo"/>
              </a:rPr>
              <a:t> with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146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94A3B8"/>
                </a:solidFill>
                <a:latin typeface="Archivo"/>
              </a:rPr>
              <a:t>We empower businesses to achieve meaningful outcomes through AI transformation,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94A3B8"/>
                </a:solidFill>
                <a:latin typeface="Archivo"/>
              </a:rPr>
              <a:t>secured by proactive defense and fortified with unyielding enterprise resilience.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Archivo"/>
              </a:rPr>
              <a:t>Client discussion · Month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Archivo"/>
              </a:rPr>
              <a:t>bostoncyber</a:t>
            </a:r>
            <a:r>
              <a:rPr sz="1200" b="1">
                <a:solidFill>
                  <a:srgbClr val="FF3B30"/>
                </a:solidFill>
                <a:latin typeface="Archivo"/>
              </a:rPr>
              <a:t>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Archivo"/>
              </a:rPr>
              <a:t>Confidential 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8FAFC"/>
                </a:solidFill>
                <a:latin typeface="Archivo"/>
              </a:rPr>
              <a:t>Technology leadership now carries one converging mandate.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94A3B8"/>
                </a:solidFill>
                <a:latin typeface="Archivo"/>
              </a:rPr>
              <a:t>Create value with AI while reducing cyber risk and preserving the ability to operate through disruption.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520440" cy="3749039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286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B82F6"/>
                </a:solidFill>
                <a:latin typeface="Archivo"/>
              </a:rPr>
              <a:t>01  Transform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26080"/>
            <a:ext cx="2971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4A3B8"/>
                </a:solidFill>
                <a:latin typeface="Archivo"/>
              </a:rPr>
              <a:t>Move from fragmented experiments to a governed AI strategy, scalable architecture, integrated workflows, and measurable outcomes.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11680"/>
            <a:ext cx="3520440" cy="3749039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286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2D3EE"/>
                </a:solidFill>
                <a:latin typeface="Archivo"/>
              </a:rPr>
              <a:t>02  Defend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926080"/>
            <a:ext cx="2971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4A3B8"/>
                </a:solidFill>
                <a:latin typeface="Archivo"/>
              </a:rPr>
              <a:t>Protect enterprise systems while using AI and agents to improve visibility, decisions, and response speed.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011680"/>
            <a:ext cx="3520440" cy="3749039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286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4D399"/>
                </a:solidFill>
                <a:latin typeface="Archivo"/>
              </a:rPr>
              <a:t>03  Achieve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926080"/>
            <a:ext cx="2971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4A3B8"/>
                </a:solidFill>
                <a:latin typeface="Archivo"/>
              </a:rPr>
              <a:t>Reach organizational goals with resilience built into every critical capability, provable to boards and insurers.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Archivo"/>
              </a:rPr>
              <a:t>bostoncyber</a:t>
            </a:r>
            <a:r>
              <a:rPr sz="1200" b="1">
                <a:solidFill>
                  <a:srgbClr val="FF3B30"/>
                </a:solidFill>
                <a:latin typeface="Archivo"/>
              </a:rPr>
              <a:t>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Archivo"/>
              </a:rPr>
              <a:t>Confidential 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8FAFC"/>
                </a:solidFill>
                <a:latin typeface="Archivo"/>
              </a:rPr>
              <a:t>Adoption is sprinting. Governance is walking.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4A3B8"/>
                </a:solidFill>
                <a:latin typeface="Archivo"/>
              </a:rPr>
              <a:t>Mid-market companies with AI in 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914400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21240" y="21031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8FAFC"/>
                </a:solidFill>
                <a:latin typeface="Archivo"/>
              </a:rPr>
              <a:t>82%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4A3B8"/>
                </a:solidFill>
                <a:latin typeface="Archivo"/>
              </a:rPr>
              <a:t>With AI scaled and governed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20440"/>
            <a:ext cx="2898648" cy="274320"/>
          </a:xfrm>
          <a:prstGeom prst="roundRect">
            <a:avLst>
              <a:gd name="adj" fmla="val 50000"/>
            </a:avLst>
          </a:prstGeom>
          <a:solidFill>
            <a:srgbClr val="2A4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33375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8FAFC"/>
                </a:solidFill>
                <a:latin typeface="Archivo"/>
              </a:rPr>
              <a:t>26%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BBF24"/>
                </a:solidFill>
                <a:latin typeface="Archivo"/>
              </a:rPr>
              <a:t>56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498848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4A3B8"/>
                </a:solidFill>
                <a:latin typeface="Archivo"/>
              </a:rPr>
              <a:t>between the companies adopting AI and the companies governing it.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94A3B8"/>
                </a:solidFill>
                <a:latin typeface="Archivo"/>
              </a:rPr>
              <a:t>That gap is where exposure lives. Closing it is the whole BCX practice.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06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Archivo"/>
              </a:rPr>
              <a:t>Source: Netrio mid-market survey,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-bg-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64190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Archivo"/>
              </a:rPr>
              <a:t>bostoncyber</a:t>
            </a:r>
            <a:r>
              <a:rPr sz="1200" b="1">
                <a:solidFill>
                  <a:srgbClr val="FF3B30"/>
                </a:solidFill>
                <a:latin typeface="Archivo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Archivo"/>
              </a:rPr>
              <a:t>Confidential ·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F8FAFC"/>
                </a:solidFill>
                <a:latin typeface="Archivo"/>
              </a:rPr>
              <a:t>You cannot adopt trustworthy AI without cybersecurity,</a:t>
            </a:r>
          </a:p>
          <a:p>
            <a:pPr algn="l">
              <a:lnSpc>
                <a:spcPct val="130000"/>
              </a:lnSpc>
            </a:pPr>
            <a:r>
              <a:rPr sz="2700" b="1">
                <a:solidFill>
                  <a:srgbClr val="F8FAFC"/>
                </a:solidFill>
                <a:latin typeface="Archivo"/>
              </a:rPr>
              <a:t>and you cannot defend your organization</a:t>
            </a:r>
          </a:p>
          <a:p>
            <a:pPr algn="l">
              <a:lnSpc>
                <a:spcPct val="130000"/>
              </a:lnSpc>
            </a:pPr>
            <a:r>
              <a:rPr sz="2700" b="1">
                <a:solidFill>
                  <a:srgbClr val="F8FAFC"/>
                </a:solidFill>
                <a:latin typeface="Archivo"/>
              </a:rPr>
              <a:t>from disruption without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4480560"/>
            <a:ext cx="2926080" cy="54864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709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Archivo"/>
              </a:rPr>
              <a:t>The bostoncyberx thesis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Archivo"/>
              </a:rPr>
              <a:t>bostoncyber</a:t>
            </a:r>
            <a:r>
              <a:rPr sz="1200" b="1">
                <a:solidFill>
                  <a:srgbClr val="FF3B30"/>
                </a:solidFill>
                <a:latin typeface="Archivo"/>
              </a:rPr>
              <a:t>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Archivo"/>
              </a:rPr>
              <a:t>Confidential ·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8FAFC"/>
                </a:solidFill>
                <a:latin typeface="Archivo"/>
              </a:rPr>
              <a:t>Two service segments. Three ways to engage.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600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3B8"/>
                </a:solidFill>
                <a:latin typeface="Archivo"/>
              </a:rPr>
              <a:t>ADVISORY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3B8"/>
                </a:solidFill>
                <a:latin typeface="Archivo"/>
              </a:rPr>
              <a:t>Assess, prioritize,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00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3B8"/>
                </a:solidFill>
                <a:latin typeface="Archivo"/>
              </a:rPr>
              <a:t>SYSTEMS INTEGRATION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3B8"/>
                </a:solidFill>
                <a:latin typeface="Archivo"/>
              </a:rPr>
              <a:t>Build, connect,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1600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3B8"/>
                </a:solidFill>
                <a:latin typeface="Archivo"/>
              </a:rPr>
              <a:t>OPERATIONAL SERVICES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3B8"/>
                </a:solidFill>
                <a:latin typeface="Archivo"/>
              </a:rPr>
              <a:t>Operate, govern, improve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B82F6"/>
                </a:solidFill>
                <a:latin typeface="Archivo"/>
              </a:rPr>
              <a:t>AI</a:t>
            </a:r>
          </a:p>
          <a:p>
            <a:pPr algn="l">
              <a:lnSpc>
                <a:spcPct val="115000"/>
              </a:lnSpc>
            </a:pPr>
            <a:r>
              <a:rPr sz="1350" b="1">
                <a:solidFill>
                  <a:srgbClr val="3B82F6"/>
                </a:solidFill>
                <a:latin typeface="Archivo"/>
              </a:rPr>
              <a:t>TRANSFORMATION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468880"/>
            <a:ext cx="2743200" cy="146304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74320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3B8"/>
                </a:solidFill>
                <a:latin typeface="Archivo"/>
              </a:rPr>
              <a:t>AI advisory and governance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468880"/>
            <a:ext cx="2743200" cy="146304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74320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3B8"/>
                </a:solidFill>
                <a:latin typeface="Archivo"/>
              </a:rPr>
              <a:t>AI platforms, data, apps, and 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468880"/>
            <a:ext cx="2743200" cy="146304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274320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3B8"/>
                </a:solidFill>
                <a:latin typeface="Archivo"/>
              </a:rPr>
              <a:t>AI operations and optimization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0624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26279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2D3EE"/>
                </a:solidFill>
                <a:latin typeface="Archivo"/>
              </a:rPr>
              <a:t>CYBERSECURITY &amp;</a:t>
            </a:r>
          </a:p>
          <a:p>
            <a:pPr algn="l">
              <a:lnSpc>
                <a:spcPct val="115000"/>
              </a:lnSpc>
            </a:pPr>
            <a:r>
              <a:rPr sz="1350" b="1">
                <a:solidFill>
                  <a:srgbClr val="22D3EE"/>
                </a:solidFill>
                <a:latin typeface="Archivo"/>
              </a:rPr>
              <a:t>RESILIENCY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4206240"/>
            <a:ext cx="2743200" cy="146304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4480559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3B8"/>
                </a:solidFill>
                <a:latin typeface="Archivo"/>
              </a:rPr>
              <a:t>Strategy, assessment, architecture, assurance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206240"/>
            <a:ext cx="2743200" cy="146304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480559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3B8"/>
                </a:solidFill>
                <a:latin typeface="Archivo"/>
              </a:rPr>
              <a:t>Security platforms, controls, automation, recovery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4206240"/>
            <a:ext cx="2743200" cy="146304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4480559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3B8"/>
                </a:solidFill>
                <a:latin typeface="Archivo"/>
              </a:rPr>
              <a:t>Managed detection, response, and resilience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23360" y="0"/>
            <a:ext cx="16176118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6126480" cy="6858000"/>
          </a:xfrm>
          <a:prstGeom prst="roundRect">
            <a:avLst>
              <a:gd name="adj" fmla="val 0"/>
            </a:avLst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Archivo"/>
              </a:rPr>
              <a:t>bostoncyber</a:t>
            </a:r>
            <a:r>
              <a:rPr sz="1200" b="1">
                <a:solidFill>
                  <a:srgbClr val="FF3B30"/>
                </a:solidFill>
                <a:latin typeface="Archivo"/>
              </a:rPr>
              <a:t>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Archivo"/>
              </a:rPr>
              <a:t>Confidential ·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B82F6"/>
                </a:solidFill>
                <a:latin typeface="Archivo"/>
              </a:rPr>
              <a:t>TERRITORY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5087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8FAFC"/>
                </a:solidFill>
                <a:latin typeface="Archivo"/>
              </a:rPr>
              <a:t>Put AI to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971800"/>
            <a:ext cx="256032" cy="411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F8FAFC"/>
                </a:solidFill>
                <a:latin typeface="Archivo"/>
              </a:rPr>
              <a:t>An AI roadmap your board can read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657600"/>
            <a:ext cx="256032" cy="411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F8FAFC"/>
                </a:solidFill>
                <a:latin typeface="Archivo"/>
              </a:rPr>
              <a:t>Governance that speeds you 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343400"/>
            <a:ext cx="256032" cy="411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F8FAFC"/>
                </a:solidFill>
                <a:latin typeface="Archivo"/>
              </a:rPr>
              <a:t>Adoption, not shelfware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defe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23360" y="0"/>
            <a:ext cx="16176118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6126480" cy="6858000"/>
          </a:xfrm>
          <a:prstGeom prst="roundRect">
            <a:avLst>
              <a:gd name="adj" fmla="val 0"/>
            </a:avLst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Archivo"/>
              </a:rPr>
              <a:t>bostoncyber</a:t>
            </a:r>
            <a:r>
              <a:rPr sz="1200" b="1">
                <a:solidFill>
                  <a:srgbClr val="FF3B30"/>
                </a:solidFill>
                <a:latin typeface="Archivo"/>
              </a:rPr>
              <a:t>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Archivo"/>
              </a:rPr>
              <a:t>Confidential ·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Archivo"/>
              </a:rPr>
              <a:t>TERRITORY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5087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8FAFC"/>
                </a:solidFill>
                <a:latin typeface="Archivo"/>
              </a:rPr>
              <a:t>Hold the 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971800"/>
            <a:ext cx="256032" cy="411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F8FAFC"/>
                </a:solidFill>
                <a:latin typeface="Archivo"/>
              </a:rPr>
              <a:t>A CISO in the seat, fractional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657600"/>
            <a:ext cx="256032" cy="411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F8FAFC"/>
                </a:solidFill>
                <a:latin typeface="Archivo"/>
              </a:rPr>
              <a:t>Insurance renewals without drama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343400"/>
            <a:ext cx="256032" cy="411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F8FAFC"/>
                </a:solidFill>
                <a:latin typeface="Archivo"/>
              </a:rPr>
              <a:t>Watched around the clock by bcxBastion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achie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23360" y="0"/>
            <a:ext cx="16176118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6126480" cy="6858000"/>
          </a:xfrm>
          <a:prstGeom prst="roundRect">
            <a:avLst>
              <a:gd name="adj" fmla="val 0"/>
            </a:avLst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Archivo"/>
              </a:rPr>
              <a:t>bostoncyber</a:t>
            </a:r>
            <a:r>
              <a:rPr sz="1200" b="1">
                <a:solidFill>
                  <a:srgbClr val="FF3B30"/>
                </a:solidFill>
                <a:latin typeface="Archivo"/>
              </a:rPr>
              <a:t>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Archivo"/>
              </a:rPr>
              <a:t>Confidential ·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4D399"/>
                </a:solidFill>
                <a:latin typeface="Archivo"/>
              </a:rPr>
              <a:t>TERRITORY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5087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8FAFC"/>
                </a:solidFill>
                <a:latin typeface="Archivo"/>
              </a:rPr>
              <a:t>Show the 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971800"/>
            <a:ext cx="256032" cy="4114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F8FAFC"/>
                </a:solidFill>
                <a:latin typeface="Archivo"/>
              </a:rPr>
              <a:t>Fixed scopes, published ranges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657600"/>
            <a:ext cx="256032" cy="4114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F8FAFC"/>
                </a:solidFill>
                <a:latin typeface="Archivo"/>
              </a:rPr>
              <a:t>Deliverables in writing, monthly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343400"/>
            <a:ext cx="256032" cy="4114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F8FAFC"/>
                </a:solidFill>
                <a:latin typeface="Archivo"/>
              </a:rPr>
              <a:t>Board-ready reporting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Archivo"/>
              </a:rPr>
              <a:t>bostoncyber</a:t>
            </a:r>
            <a:r>
              <a:rPr sz="1200" b="1">
                <a:solidFill>
                  <a:srgbClr val="FF3B30"/>
                </a:solidFill>
                <a:latin typeface="Archivo"/>
              </a:rPr>
              <a:t>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Archivo"/>
              </a:rPr>
              <a:t>Confidential ·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8FAFC"/>
                </a:solidFill>
                <a:latin typeface="Archivo"/>
              </a:rPr>
              <a:t>One framework runs through everything. FORGE.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4A3B8"/>
                </a:solidFill>
                <a:latin typeface="Archivo"/>
              </a:rPr>
              <a:t>From readiness baseline to certified, governed scale in nine to twelve months.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103120" cy="310896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8FAFC"/>
                </a:solidFill>
                <a:latin typeface="Archivo"/>
              </a:rPr>
              <a:t>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rchivo"/>
              </a:rPr>
              <a:t>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4A3B8"/>
                </a:solidFill>
                <a:latin typeface="Archivo"/>
              </a:rPr>
              <a:t>Are we ready?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63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Archivo"/>
              </a:rPr>
              <a:t>Weeks 1 to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103120"/>
            <a:ext cx="2103120" cy="310896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22860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8FAFC"/>
                </a:solidFill>
                <a:latin typeface="Archivo"/>
              </a:rPr>
              <a:t>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24612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rchivo"/>
              </a:rP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703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4A3B8"/>
                </a:solidFill>
                <a:latin typeface="Archivo"/>
              </a:rPr>
              <a:t>What are we solving for?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663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Archivo"/>
              </a:rPr>
              <a:t>Weeks 4 to 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103120"/>
            <a:ext cx="2103120" cy="310896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22860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8FAFC"/>
                </a:solidFill>
                <a:latin typeface="Archivo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24612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rchivo"/>
              </a:rPr>
              <a:t>Rapid Pilots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703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4A3B8"/>
                </a:solidFill>
                <a:latin typeface="Archivo"/>
              </a:rPr>
              <a:t>Can we prove it fast?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4663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Archivo"/>
              </a:rPr>
              <a:t>Weeks 8 to 14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2103120"/>
            <a:ext cx="2103120" cy="310896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22860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8FAFC"/>
                </a:solidFill>
                <a:latin typeface="Archivo"/>
              </a:rPr>
              <a:t>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24612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rchivo"/>
              </a:rPr>
              <a:t>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703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4A3B8"/>
                </a:solidFill>
                <a:latin typeface="Archivo"/>
              </a:rPr>
              <a:t>How do we scale it?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4663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Archivo"/>
              </a:rPr>
              <a:t>Months 4 to 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2103120"/>
            <a:ext cx="2103120" cy="310896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22860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8FAFC"/>
                </a:solidFill>
                <a:latin typeface="Archivo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324612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rchivo"/>
              </a:rPr>
              <a:t>Enterprise-Grade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3703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4A3B8"/>
                </a:solidFill>
                <a:latin typeface="Archivo"/>
              </a:rPr>
              <a:t>Is it safe long-term?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4663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Archivo"/>
              </a:rPr>
              <a:t>Months 8 to 12+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23560"/>
            <a:ext cx="11064240" cy="45720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788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4A3B8"/>
                </a:solidFill>
                <a:latin typeface="Archivo"/>
              </a:rPr>
              <a:t>Raw material gets shaped, tempered, and hardened. Each stage adds strength.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defe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51760" y="0"/>
            <a:ext cx="16176118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6583680" cy="6858000"/>
          </a:xfrm>
          <a:prstGeom prst="roundRect">
            <a:avLst>
              <a:gd name="adj" fmla="val 0"/>
            </a:avLst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Archivo"/>
              </a:rPr>
              <a:t>bostoncyber</a:t>
            </a:r>
            <a:r>
              <a:rPr sz="1200" b="1">
                <a:solidFill>
                  <a:srgbClr val="FF3B30"/>
                </a:solidFill>
                <a:latin typeface="Archivo"/>
              </a:rPr>
              <a:t>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Archivo"/>
              </a:rPr>
              <a:t>Confidential 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>
                <a:solidFill>
                  <a:srgbClr val="22D3EE"/>
                </a:solidFill>
                <a:latin typeface="Archivo"/>
              </a:rPr>
              <a:t>bcx</a:t>
            </a:r>
            <a:r>
              <a:rPr sz="2800" b="1">
                <a:solidFill>
                  <a:srgbClr val="F8FAFC"/>
                </a:solidFill>
                <a:latin typeface="Archivo"/>
              </a:rPr>
              <a:t>Bastion never closes.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9164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4A3B8"/>
                </a:solidFill>
                <a:latin typeface="Archivo"/>
              </a:rPr>
              <a:t>Everything watched in one place, AI-assisted triage, and a 24/7 response path. Senior analysts, not a ticket queue.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971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4A3B8"/>
                </a:solidFill>
                <a:latin typeface="Archivo"/>
              </a:rPr>
              <a:t>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971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8FAFC"/>
                </a:solidFill>
                <a:latin typeface="Archivo"/>
              </a:rPr>
              <a:t>24 / 7 / 365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429000"/>
            <a:ext cx="5486400" cy="10972"/>
          </a:xfrm>
          <a:prstGeom prst="roundRect">
            <a:avLst>
              <a:gd name="adj" fmla="val 50000"/>
            </a:avLst>
          </a:prstGeom>
          <a:solidFill>
            <a:srgbClr val="2A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6301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4A3B8"/>
                </a:solidFill>
                <a:latin typeface="Archivo"/>
              </a:rPr>
              <a:t>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6301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8FAFC"/>
                </a:solidFill>
                <a:latin typeface="Archivo"/>
              </a:rPr>
              <a:t>One console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87368"/>
            <a:ext cx="5486400" cy="10972"/>
          </a:xfrm>
          <a:prstGeom prst="roundRect">
            <a:avLst>
              <a:gd name="adj" fmla="val 50000"/>
            </a:avLst>
          </a:prstGeom>
          <a:solidFill>
            <a:srgbClr val="2A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28853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4A3B8"/>
                </a:solidFill>
                <a:latin typeface="Archivo"/>
              </a:rPr>
              <a:t>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28853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8FAFC"/>
                </a:solidFill>
                <a:latin typeface="Archivo"/>
              </a:rPr>
              <a:t>AI-assisted, human-decided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45736"/>
            <a:ext cx="5486400" cy="10972"/>
          </a:xfrm>
          <a:prstGeom prst="roundRect">
            <a:avLst>
              <a:gd name="adj" fmla="val 50000"/>
            </a:avLst>
          </a:prstGeom>
          <a:solidFill>
            <a:srgbClr val="2A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94690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4A3B8"/>
                </a:solidFill>
                <a:latin typeface="Archivo"/>
              </a:rPr>
              <a:t>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94690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8FAFC"/>
                </a:solidFill>
                <a:latin typeface="Archivo"/>
              </a:rPr>
              <a:t>Monthly, board-ready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404104"/>
            <a:ext cx="5486400" cy="10972"/>
          </a:xfrm>
          <a:prstGeom prst="roundRect">
            <a:avLst>
              <a:gd name="adj" fmla="val 50000"/>
            </a:avLst>
          </a:prstGeom>
          <a:solidFill>
            <a:srgbClr val="2A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Archivo"/>
              </a:rPr>
              <a:t>bostoncyber</a:t>
            </a:r>
            <a:r>
              <a:rPr sz="1200" b="1">
                <a:solidFill>
                  <a:srgbClr val="FF3B30"/>
                </a:solidFill>
                <a:latin typeface="Archivo"/>
              </a:rPr>
              <a:t>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Archivo"/>
              </a:rPr>
              <a:t>Confidential ·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8FAFC"/>
                </a:solidFill>
                <a:latin typeface="Archivo"/>
              </a:rPr>
              <a:t>Choose your starting point.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20440" cy="338328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7451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3B30"/>
                </a:solidFill>
                <a:latin typeface="Archiv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860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8FAFC"/>
                </a:solidFill>
                <a:latin typeface="Archivo"/>
              </a:rPr>
              <a:t>AI Readiness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Archivo"/>
              </a:rPr>
              <a:t>1 TO 2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767328"/>
            <a:ext cx="2971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94A3B8"/>
                </a:solidFill>
                <a:latin typeface="Archivo"/>
              </a:rPr>
              <a:t>Align stakeholders, assess readiness, frame priority opportunities and risks, define next steps.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338328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7451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3B30"/>
                </a:solidFill>
                <a:latin typeface="Archiv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860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8FAFC"/>
                </a:solidFill>
                <a:latin typeface="Archivo"/>
              </a:rPr>
              <a:t>AI Accelerator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Archivo"/>
              </a:rPr>
              <a:t>3 TO 6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767328"/>
            <a:ext cx="2971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94A3B8"/>
                </a:solidFill>
                <a:latin typeface="Archivo"/>
              </a:rPr>
              <a:t>Develop the AI strategy, use-case portfolio, roadmap, governance direction, and conceptual architecture.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45920"/>
            <a:ext cx="3520440" cy="338328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7451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3B30"/>
                </a:solidFill>
                <a:latin typeface="Archiv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860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8FAFC"/>
                </a:solidFill>
                <a:latin typeface="Archivo"/>
              </a:rPr>
              <a:t>Cyber &amp; Resiliency Posture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Archivo"/>
              </a:rPr>
              <a:t>3 TO 6 WEEKS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767328"/>
            <a:ext cx="2971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94A3B8"/>
                </a:solidFill>
                <a:latin typeface="Archivo"/>
              </a:rPr>
              <a:t>Assess maturity and posture, prioritize gaps, define strategy, roadmap, owners, timing, and budget ranges.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49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4A3B8"/>
                </a:solidFill>
                <a:latin typeface="Archivo"/>
              </a:rPr>
              <a:t>Commercial models: hourly advisory · outcome-based fixed price · managed services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Archivo"/>
              </a:rPr>
              <a:t>bostoncyber</a:t>
            </a:r>
            <a:r>
              <a:rPr sz="1200" b="1">
                <a:solidFill>
                  <a:srgbClr val="FF3B30"/>
                </a:solidFill>
                <a:latin typeface="Archivo"/>
              </a:rPr>
              <a:t>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Archivo"/>
              </a:rPr>
              <a:t>Confidential ·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8FAFC"/>
                </a:solidFill>
                <a:latin typeface="Archivo"/>
              </a:rPr>
              <a:t>One partner across transformation, defense, and resilience.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900" b="1">
                <a:solidFill>
                  <a:srgbClr val="F8FAFC"/>
                </a:solidFill>
                <a:latin typeface="Archivo"/>
              </a:rPr>
              <a:t>e</a:t>
            </a:r>
            <a:r>
              <a:rPr sz="1900" b="1">
                <a:solidFill>
                  <a:srgbClr val="FF3B30"/>
                </a:solidFill>
                <a:latin typeface="Archivo"/>
              </a:rPr>
              <a:t>X</a:t>
            </a:r>
            <a:r>
              <a:rPr sz="1900" b="1">
                <a:solidFill>
                  <a:srgbClr val="F8FAFC"/>
                </a:solidFill>
                <a:latin typeface="Archivo"/>
              </a:rPr>
              <a:t>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743200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4A3B8"/>
                </a:solidFill>
                <a:latin typeface="Archivo"/>
              </a:rPr>
              <a:t>Decades partnering with enterprises across finance, government, defense, retail, travel, and manufacturing.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900" b="1">
                <a:solidFill>
                  <a:srgbClr val="F8FAFC"/>
                </a:solidFill>
                <a:latin typeface="Archivo"/>
              </a:rPr>
              <a:t>e</a:t>
            </a:r>
            <a:r>
              <a:rPr sz="1900" b="1">
                <a:solidFill>
                  <a:srgbClr val="FF3B30"/>
                </a:solidFill>
                <a:latin typeface="Archivo"/>
              </a:rPr>
              <a:t>X</a:t>
            </a:r>
            <a:r>
              <a:rPr sz="1900" b="1">
                <a:solidFill>
                  <a:srgbClr val="F8FAFC"/>
                </a:solidFill>
                <a:latin typeface="Archivo"/>
              </a:rPr>
              <a:t>pertise.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743200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4A3B8"/>
                </a:solidFill>
                <a:latin typeface="Archivo"/>
              </a:rPr>
              <a:t>Working with AI in business since 2015, not since the ChatGPT moment. Depth across every security and resiliency domain.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73736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011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900" b="1">
                <a:solidFill>
                  <a:srgbClr val="F8FAFC"/>
                </a:solidFill>
                <a:latin typeface="Archivo"/>
              </a:rPr>
              <a:t>e</a:t>
            </a:r>
            <a:r>
              <a:rPr sz="1900" b="1">
                <a:solidFill>
                  <a:srgbClr val="FF3B30"/>
                </a:solidFill>
                <a:latin typeface="Archivo"/>
              </a:rPr>
              <a:t>X</a:t>
            </a:r>
            <a:r>
              <a:rPr sz="1900" b="1">
                <a:solidFill>
                  <a:srgbClr val="F8FAFC"/>
                </a:solidFill>
                <a:latin typeface="Archivo"/>
              </a:rPr>
              <a:t>ecution.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743200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4A3B8"/>
                </a:solidFill>
                <a:latin typeface="Archivo"/>
              </a:rPr>
              <a:t>Big-firm capability without the cookie-cutter bureaucracy. Fixed scopes, dates, and deliverables in writing.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Archivo"/>
              </a:rPr>
              <a:t>bostoncyber</a:t>
            </a:r>
            <a:r>
              <a:rPr sz="1200" b="1">
                <a:solidFill>
                  <a:srgbClr val="FF3B30"/>
                </a:solidFill>
                <a:latin typeface="Archivo"/>
              </a:rPr>
              <a:t>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Archivo"/>
              </a:rPr>
              <a:t>Confidential ·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8FAFC"/>
                </a:solidFill>
                <a:latin typeface="Archivo"/>
              </a:rPr>
              <a:t>The threat, measured.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031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8FAFC"/>
                </a:solidFill>
                <a:latin typeface="Archivo"/>
              </a:rPr>
              <a:t>88%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108960"/>
            <a:ext cx="2971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94A3B8"/>
                </a:solidFill>
                <a:latin typeface="Archivo"/>
              </a:rPr>
              <a:t>of breaches at small and mid-sized businesses involve ransomware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43708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Archivo"/>
              </a:rPr>
              <a:t>Verizon DBIR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031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8FAFC"/>
                </a:solidFill>
                <a:latin typeface="Archivo"/>
              </a:rPr>
              <a:t>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108960"/>
            <a:ext cx="2971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94A3B8"/>
                </a:solidFill>
                <a:latin typeface="Archivo"/>
              </a:rPr>
              <a:t>of SMBs say an incident costing $100K or less could close the 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43708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Archivo"/>
              </a:rPr>
              <a:t>VikingCloud,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73736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1031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8FAFC"/>
                </a:solidFill>
                <a:latin typeface="Archivo"/>
              </a:rPr>
              <a:t>$3.04B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108960"/>
            <a:ext cx="2971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94A3B8"/>
                </a:solidFill>
                <a:latin typeface="Archivo"/>
              </a:rPr>
              <a:t>in business email compromise losses reported in one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3708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Archivo"/>
              </a:rPr>
              <a:t>FBI IC3, 2025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-bg-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548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000" b="1">
                <a:solidFill>
                  <a:srgbClr val="F8FAFC"/>
                </a:solidFill>
                <a:latin typeface="Archivo"/>
              </a:rPr>
              <a:t>bostoncyber</a:t>
            </a:r>
            <a:r>
              <a:rPr sz="2000" b="1">
                <a:solidFill>
                  <a:srgbClr val="FF3B30"/>
                </a:solidFill>
                <a:latin typeface="Archivo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8FAFC"/>
                </a:solidFill>
                <a:latin typeface="Archivo"/>
              </a:rPr>
              <a:t>Start with clarity.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91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Archivo"/>
              </a:rPr>
              <a:t>Free 10-minute readiness score at bostoncyberx.com, or a working session with our team this month.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4114800"/>
            <a:ext cx="2926080" cy="54864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1264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8FAFC"/>
                </a:solidFill>
                <a:latin typeface="Archivo"/>
              </a:rPr>
              <a:t>1 Marina Park Drive, Boston, MA 02210  ·  617.241.5445  ·  info@bostoncyberx.com  ·  bostoncyberx.com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