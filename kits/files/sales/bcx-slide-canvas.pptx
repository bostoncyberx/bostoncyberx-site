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CANVAS. Replace the title, subtitle, and footer line. Use for deck openers. The ghost X background is the brand signature; keep it uncovered.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CANVAS, X BOTTOM-RIGHT (matches the link preview and Zoom ink art, without the grid). The wordmark carries the red line with the y crossing it. Keep the lower-right third clear so the X can breathe.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ALTERNATE TITLE CANVAS on the horizon artwork (same art as the Zoom background, wordmark included in the image). Title and subtitle are editable; keep text in the upper half where the image is darkest.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on the ink X artwork (same art as the Zoom background, wordmark included in the image). Change the number and section name. Duplicate once per section.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SECTION DIVIDER. Use when several dividers appear close together so the X artwork stays special.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X BOTTOM-RIGHT. A third divider option on the gridless corner-X art. Change the number and section name.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 CARD (matches the social stat card). One number per slide, as large as the canvas allows. Amber is available for risk numbers; keep everything else paper on ink.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 CARD (matches the social quote card). Swap the quote and attribution. Keep quotes to three lines or fewer at this size.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STATEMENT CANVAS (the LinkedIn banner design at slide size). Works as an emotional beat between sections or before the closing ask. Edit the support line only; the tri-verb lockup is fixed brand language.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TEXT CANVAS. The workhorse content slide: kicker, headline, and up to three points. Use white for anything the audience must read closely.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TWO-COLUMN CANVAS. Before/after, option A/option B, current/target. The right column heading may take Action Red when it carries the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DIAGRAM CANVAS. Diagrams and architectures read best on white. Delete the placeholder text, drop the diagram on the panel, keep the caption. Red marks the defended or decisive element only.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 FRAMEWORK CANVAS. The FORGE row is an example: swap tiles for any framework, keep the letter-red / name-ink / detail-slate hierarchy.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CANVAS. Replace the ask; the contact line stays. End every client deck on ink.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CANVAS, X BOTTOM-RIGHT. The gridless corner-X close, with the line-lockup wordmark. Replace the ask; the contact line stays.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END-CAP. The line lockup alone on ink. Use as the final resting slide after the close, or as a pause beat mid-deck. Nothing else belongs on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pic>
        <p:nvPicPr>
          <p:cNvPr id="2" name="Picture 1" descr="deck-bg-ghos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548640"/>
            <a:ext cx="3657600" cy="457200"/>
          </a:xfrm>
          <a:prstGeom prst="rect">
            <a:avLst/>
          </a:prstGeom>
          <a:noFill/>
        </p:spPr>
        <p:txBody>
          <a:bodyPr wrap="square">
            <a:spAutoFit/>
          </a:bodyPr>
          <a:lstStyle/>
          <a:p>
            <a:pPr algn="l">
              <a:lnSpc>
                <a:spcPct val="100000"/>
              </a:lnSpc>
            </a:pPr>
            <a:r>
              <a:rPr sz="2200" b="1">
                <a:solidFill>
                  <a:srgbClr val="F8FAFC"/>
                </a:solidFill>
                <a:latin typeface="Archivo"/>
              </a:rPr>
              <a:t>bostoncyber</a:t>
            </a:r>
            <a:r>
              <a:rPr sz="2200" b="1">
                <a:solidFill>
                  <a:srgbClr val="FF3B30"/>
                </a:solidFill>
                <a:latin typeface="Archivo"/>
              </a:rPr>
              <a:t>x</a:t>
            </a:r>
          </a:p>
        </p:txBody>
      </p:sp>
      <p:sp>
        <p:nvSpPr>
          <p:cNvPr id="4" name="TextBox 3"/>
          <p:cNvSpPr txBox="1"/>
          <p:nvPr/>
        </p:nvSpPr>
        <p:spPr>
          <a:xfrm>
            <a:off x="548640" y="2331720"/>
            <a:ext cx="10972800" cy="914400"/>
          </a:xfrm>
          <a:prstGeom prst="rect">
            <a:avLst/>
          </a:prstGeom>
          <a:noFill/>
        </p:spPr>
        <p:txBody>
          <a:bodyPr wrap="square">
            <a:spAutoFit/>
          </a:bodyPr>
          <a:lstStyle/>
          <a:p>
            <a:pPr algn="l">
              <a:lnSpc>
                <a:spcPct val="100000"/>
              </a:lnSpc>
            </a:pPr>
            <a:r>
              <a:rPr sz="4000" b="1">
                <a:solidFill>
                  <a:srgbClr val="F8FAFC"/>
                </a:solidFill>
                <a:latin typeface="Archivo"/>
              </a:rPr>
              <a:t>Presentation title goes here.</a:t>
            </a:r>
          </a:p>
        </p:txBody>
      </p:sp>
      <p:sp>
        <p:nvSpPr>
          <p:cNvPr id="5" name="TextBox 4"/>
          <p:cNvSpPr txBox="1"/>
          <p:nvPr/>
        </p:nvSpPr>
        <p:spPr>
          <a:xfrm>
            <a:off x="566928" y="3383280"/>
            <a:ext cx="10058400" cy="548640"/>
          </a:xfrm>
          <a:prstGeom prst="rect">
            <a:avLst/>
          </a:prstGeom>
          <a:noFill/>
        </p:spPr>
        <p:txBody>
          <a:bodyPr wrap="square">
            <a:spAutoFit/>
          </a:bodyPr>
          <a:lstStyle/>
          <a:p>
            <a:pPr algn="l">
              <a:lnSpc>
                <a:spcPct val="100000"/>
              </a:lnSpc>
            </a:pPr>
            <a:r>
              <a:rPr sz="1600" b="0">
                <a:solidFill>
                  <a:srgbClr val="94A3B8"/>
                </a:solidFill>
                <a:latin typeface="Archivo"/>
              </a:rPr>
              <a:t>Subtitle or engagement name</a:t>
            </a:r>
          </a:p>
        </p:txBody>
      </p:sp>
      <p:sp>
        <p:nvSpPr>
          <p:cNvPr id="6" name="Rounded Rectangle 5"/>
          <p:cNvSpPr/>
          <p:nvPr/>
        </p:nvSpPr>
        <p:spPr>
          <a:xfrm>
            <a:off x="566928" y="4160520"/>
            <a:ext cx="2926080" cy="54864"/>
          </a:xfrm>
          <a:prstGeom prst="roundRect">
            <a:avLst>
              <a:gd name="adj" fmla="val 50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263640"/>
            <a:ext cx="10972800" cy="457200"/>
          </a:xfrm>
          <a:prstGeom prst="rect">
            <a:avLst/>
          </a:prstGeom>
          <a:noFill/>
        </p:spPr>
        <p:txBody>
          <a:bodyPr wrap="square">
            <a:spAutoFit/>
          </a:bodyPr>
          <a:lstStyle/>
          <a:p>
            <a:pPr algn="l">
              <a:lnSpc>
                <a:spcPct val="100000"/>
              </a:lnSpc>
            </a:pPr>
            <a:r>
              <a:rPr sz="1250" b="0">
                <a:solidFill>
                  <a:srgbClr val="94A3B8"/>
                </a:solidFill>
                <a:latin typeface="Archivo"/>
              </a:rPr>
              <a:t>Client name  ·  Month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pic>
        <p:nvPicPr>
          <p:cNvPr id="2" name="Picture 1" descr="deck-bg-x-br.png"/>
          <p:cNvPicPr>
            <a:picLocks noChangeAspect="1"/>
          </p:cNvPicPr>
          <p:nvPr/>
        </p:nvPicPr>
        <p:blipFill>
          <a:blip r:embed="rId2"/>
          <a:stretch>
            <a:fillRect/>
          </a:stretch>
        </p:blipFill>
        <p:spPr>
          <a:xfrm>
            <a:off x="0" y="0"/>
            <a:ext cx="12191695" cy="6858000"/>
          </a:xfrm>
          <a:prstGeom prst="rect">
            <a:avLst/>
          </a:prstGeom>
        </p:spPr>
      </p:pic>
      <p:pic>
        <p:nvPicPr>
          <p:cNvPr id="3" name="Picture 2" descr="bcx-wordmark-line-dark.png"/>
          <p:cNvPicPr>
            <a:picLocks noChangeAspect="1"/>
          </p:cNvPicPr>
          <p:nvPr/>
        </p:nvPicPr>
        <p:blipFill>
          <a:blip r:embed="rId3"/>
          <a:stretch>
            <a:fillRect/>
          </a:stretch>
        </p:blipFill>
        <p:spPr>
          <a:xfrm>
            <a:off x="502920" y="457200"/>
            <a:ext cx="2011680" cy="553212"/>
          </a:xfrm>
          <a:prstGeom prst="rect">
            <a:avLst/>
          </a:prstGeom>
        </p:spPr>
      </p:pic>
      <p:sp>
        <p:nvSpPr>
          <p:cNvPr id="4" name="TextBox 3"/>
          <p:cNvSpPr txBox="1"/>
          <p:nvPr/>
        </p:nvSpPr>
        <p:spPr>
          <a:xfrm>
            <a:off x="548640" y="2331720"/>
            <a:ext cx="10607040" cy="914400"/>
          </a:xfrm>
          <a:prstGeom prst="rect">
            <a:avLst/>
          </a:prstGeom>
          <a:noFill/>
        </p:spPr>
        <p:txBody>
          <a:bodyPr wrap="square">
            <a:spAutoFit/>
          </a:bodyPr>
          <a:lstStyle/>
          <a:p>
            <a:pPr algn="l">
              <a:lnSpc>
                <a:spcPct val="100000"/>
              </a:lnSpc>
            </a:pPr>
            <a:r>
              <a:rPr sz="4000" b="1">
                <a:solidFill>
                  <a:srgbClr val="F8FAFC"/>
                </a:solidFill>
                <a:latin typeface="Archivo"/>
              </a:rPr>
              <a:t>Title canvas, X on the corner.</a:t>
            </a:r>
          </a:p>
        </p:txBody>
      </p:sp>
      <p:sp>
        <p:nvSpPr>
          <p:cNvPr id="5" name="TextBox 4"/>
          <p:cNvSpPr txBox="1"/>
          <p:nvPr/>
        </p:nvSpPr>
        <p:spPr>
          <a:xfrm>
            <a:off x="566928" y="3383280"/>
            <a:ext cx="9601200" cy="548640"/>
          </a:xfrm>
          <a:prstGeom prst="rect">
            <a:avLst/>
          </a:prstGeom>
          <a:noFill/>
        </p:spPr>
        <p:txBody>
          <a:bodyPr wrap="square">
            <a:spAutoFit/>
          </a:bodyPr>
          <a:lstStyle/>
          <a:p>
            <a:pPr algn="l">
              <a:lnSpc>
                <a:spcPct val="100000"/>
              </a:lnSpc>
            </a:pPr>
            <a:r>
              <a:rPr sz="1600" b="0">
                <a:solidFill>
                  <a:srgbClr val="94A3B8"/>
                </a:solidFill>
                <a:latin typeface="Archivo"/>
              </a:rPr>
              <a:t>The link-preview composition at slide size: gridless ink, the X anchored bottom-right</a:t>
            </a:r>
          </a:p>
        </p:txBody>
      </p:sp>
      <p:sp>
        <p:nvSpPr>
          <p:cNvPr id="6" name="TextBox 5"/>
          <p:cNvSpPr txBox="1"/>
          <p:nvPr/>
        </p:nvSpPr>
        <p:spPr>
          <a:xfrm>
            <a:off x="566928" y="6263640"/>
            <a:ext cx="10972800" cy="457200"/>
          </a:xfrm>
          <a:prstGeom prst="rect">
            <a:avLst/>
          </a:prstGeom>
          <a:noFill/>
        </p:spPr>
        <p:txBody>
          <a:bodyPr wrap="square">
            <a:spAutoFit/>
          </a:bodyPr>
          <a:lstStyle/>
          <a:p>
            <a:pPr algn="l">
              <a:lnSpc>
                <a:spcPct val="100000"/>
              </a:lnSpc>
            </a:pPr>
            <a:r>
              <a:rPr sz="1250" b="0">
                <a:solidFill>
                  <a:srgbClr val="94A3B8"/>
                </a:solidFill>
                <a:latin typeface="Archivo"/>
              </a:rPr>
              <a:t>Client name  ·  Month 2026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pic>
        <p:nvPicPr>
          <p:cNvPr id="2" name="Picture 1" descr="zoom-horizo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1554480"/>
            <a:ext cx="10972800" cy="914400"/>
          </a:xfrm>
          <a:prstGeom prst="rect">
            <a:avLst/>
          </a:prstGeom>
          <a:noFill/>
        </p:spPr>
        <p:txBody>
          <a:bodyPr wrap="square">
            <a:spAutoFit/>
          </a:bodyPr>
          <a:lstStyle/>
          <a:p>
            <a:pPr algn="l">
              <a:lnSpc>
                <a:spcPct val="100000"/>
              </a:lnSpc>
            </a:pPr>
            <a:r>
              <a:rPr sz="4000" b="1">
                <a:solidFill>
                  <a:srgbClr val="F8FAFC"/>
                </a:solidFill>
                <a:latin typeface="Archivo"/>
              </a:rPr>
              <a:t>A second title canvas.</a:t>
            </a:r>
          </a:p>
        </p:txBody>
      </p:sp>
      <p:sp>
        <p:nvSpPr>
          <p:cNvPr id="4" name="TextBox 3"/>
          <p:cNvSpPr txBox="1"/>
          <p:nvPr/>
        </p:nvSpPr>
        <p:spPr>
          <a:xfrm>
            <a:off x="566928" y="2606040"/>
            <a:ext cx="10058400" cy="548640"/>
          </a:xfrm>
          <a:prstGeom prst="rect">
            <a:avLst/>
          </a:prstGeom>
          <a:noFill/>
        </p:spPr>
        <p:txBody>
          <a:bodyPr wrap="square">
            <a:spAutoFit/>
          </a:bodyPr>
          <a:lstStyle/>
          <a:p>
            <a:pPr algn="l">
              <a:lnSpc>
                <a:spcPct val="100000"/>
              </a:lnSpc>
            </a:pPr>
            <a:r>
              <a:rPr sz="1600" b="0">
                <a:solidFill>
                  <a:srgbClr val="94A3B8"/>
                </a:solidFill>
                <a:latin typeface="Archivo"/>
              </a:rPr>
              <a:t>The horizon background: use when the deck opens on an outcome or a future state</a:t>
            </a:r>
          </a:p>
        </p:txBody>
      </p:sp>
      <p:sp>
        <p:nvSpPr>
          <p:cNvPr id="5" name="TextBox 4"/>
          <p:cNvSpPr txBox="1"/>
          <p:nvPr/>
        </p:nvSpPr>
        <p:spPr>
          <a:xfrm>
            <a:off x="6858000" y="6309360"/>
            <a:ext cx="4754880" cy="457200"/>
          </a:xfrm>
          <a:prstGeom prst="rect">
            <a:avLst/>
          </a:prstGeom>
          <a:noFill/>
        </p:spPr>
        <p:txBody>
          <a:bodyPr wrap="square">
            <a:spAutoFit/>
          </a:bodyPr>
          <a:lstStyle/>
          <a:p>
            <a:pPr algn="r">
              <a:lnSpc>
                <a:spcPct val="100000"/>
              </a:lnSpc>
            </a:pPr>
            <a:r>
              <a:rPr sz="1250" b="0">
                <a:solidFill>
                  <a:srgbClr val="94A3B8"/>
                </a:solidFill>
                <a:latin typeface="Archivo"/>
              </a:rPr>
              <a:t>Client name  ·  Month 2026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pic>
        <p:nvPicPr>
          <p:cNvPr id="2" name="Picture 1" descr="zoom-ink.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40280"/>
            <a:ext cx="2011680" cy="822960"/>
          </a:xfrm>
          <a:prstGeom prst="rect">
            <a:avLst/>
          </a:prstGeom>
          <a:noFill/>
        </p:spPr>
        <p:txBody>
          <a:bodyPr wrap="square">
            <a:spAutoFit/>
          </a:bodyPr>
          <a:lstStyle/>
          <a:p>
            <a:pPr algn="l">
              <a:lnSpc>
                <a:spcPct val="100000"/>
              </a:lnSpc>
            </a:pPr>
            <a:r>
              <a:rPr sz="4400" b="1">
                <a:solidFill>
                  <a:srgbClr val="FF3B30"/>
                </a:solidFill>
                <a:latin typeface="Archivo"/>
              </a:rPr>
              <a:t>01</a:t>
            </a:r>
          </a:p>
        </p:txBody>
      </p:sp>
      <p:sp>
        <p:nvSpPr>
          <p:cNvPr id="4" name="TextBox 3"/>
          <p:cNvSpPr txBox="1"/>
          <p:nvPr/>
        </p:nvSpPr>
        <p:spPr>
          <a:xfrm>
            <a:off x="566928" y="3154680"/>
            <a:ext cx="9144000" cy="640080"/>
          </a:xfrm>
          <a:prstGeom prst="rect">
            <a:avLst/>
          </a:prstGeom>
          <a:noFill/>
        </p:spPr>
        <p:txBody>
          <a:bodyPr wrap="square">
            <a:spAutoFit/>
          </a:bodyPr>
          <a:lstStyle/>
          <a:p>
            <a:pPr algn="l">
              <a:lnSpc>
                <a:spcPct val="100000"/>
              </a:lnSpc>
            </a:pPr>
            <a:r>
              <a:rPr sz="2200" b="1">
                <a:solidFill>
                  <a:srgbClr val="F8FAFC"/>
                </a:solidFill>
                <a:latin typeface="Archivo"/>
              </a:rPr>
              <a:t>Section name goes 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566928" y="3218688"/>
            <a:ext cx="457200" cy="54864"/>
          </a:xfrm>
          <a:prstGeom prst="roundRect">
            <a:avLst>
              <a:gd name="adj" fmla="val 50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926080"/>
            <a:ext cx="2011680" cy="822960"/>
          </a:xfrm>
          <a:prstGeom prst="rect">
            <a:avLst/>
          </a:prstGeom>
          <a:noFill/>
        </p:spPr>
        <p:txBody>
          <a:bodyPr wrap="square">
            <a:spAutoFit/>
          </a:bodyPr>
          <a:lstStyle/>
          <a:p>
            <a:pPr algn="l">
              <a:lnSpc>
                <a:spcPct val="100000"/>
              </a:lnSpc>
            </a:pPr>
            <a:r>
              <a:rPr sz="4400" b="1">
                <a:solidFill>
                  <a:srgbClr val="F8FAFC"/>
                </a:solidFill>
                <a:latin typeface="Archivo"/>
              </a:rPr>
              <a:t>02</a:t>
            </a:r>
          </a:p>
        </p:txBody>
      </p:sp>
      <p:sp>
        <p:nvSpPr>
          <p:cNvPr id="4" name="TextBox 3"/>
          <p:cNvSpPr txBox="1"/>
          <p:nvPr/>
        </p:nvSpPr>
        <p:spPr>
          <a:xfrm>
            <a:off x="566928" y="3977639"/>
            <a:ext cx="10058400" cy="640080"/>
          </a:xfrm>
          <a:prstGeom prst="rect">
            <a:avLst/>
          </a:prstGeom>
          <a:noFill/>
        </p:spPr>
        <p:txBody>
          <a:bodyPr wrap="square">
            <a:spAutoFit/>
          </a:bodyPr>
          <a:lstStyle/>
          <a:p>
            <a:pPr algn="l">
              <a:lnSpc>
                <a:spcPct val="100000"/>
              </a:lnSpc>
            </a:pPr>
            <a:r>
              <a:rPr sz="2200" b="0">
                <a:solidFill>
                  <a:srgbClr val="94A3B8"/>
                </a:solidFill>
                <a:latin typeface="Archivo"/>
              </a:rPr>
              <a:t>A quieter divider, when the X would repeat</a:t>
            </a:r>
          </a:p>
        </p:txBody>
      </p:sp>
      <p:sp>
        <p:nvSpPr>
          <p:cNvPr id="5" name="TextBox 4"/>
          <p:cNvSpPr txBox="1"/>
          <p:nvPr/>
        </p:nvSpPr>
        <p:spPr>
          <a:xfrm>
            <a:off x="548640" y="6419088"/>
            <a:ext cx="3657600" cy="457200"/>
          </a:xfrm>
          <a:prstGeom prst="rect">
            <a:avLst/>
          </a:prstGeom>
          <a:noFill/>
        </p:spPr>
        <p:txBody>
          <a:bodyPr wrap="square">
            <a:spAutoFit/>
          </a:bodyPr>
          <a:lstStyle/>
          <a:p>
            <a:pPr algn="l">
              <a:lnSpc>
                <a:spcPct val="100000"/>
              </a:lnSpc>
            </a:pPr>
            <a:r>
              <a:rPr sz="1200" b="1">
                <a:solidFill>
                  <a:srgbClr val="F8FAFC"/>
                </a:solidFill>
                <a:latin typeface="Archivo"/>
              </a:rPr>
              <a:t>bostoncyber</a:t>
            </a:r>
            <a:r>
              <a:rPr sz="1200" b="1">
                <a:solidFill>
                  <a:srgbClr val="FF3B30"/>
                </a:solidFill>
                <a:latin typeface="Archivo"/>
              </a:rPr>
              <a:t>x</a:t>
            </a:r>
          </a:p>
        </p:txBody>
      </p:sp>
      <p:sp>
        <p:nvSpPr>
          <p:cNvPr id="6" name="TextBox 5"/>
          <p:cNvSpPr txBox="1"/>
          <p:nvPr/>
        </p:nvSpPr>
        <p:spPr>
          <a:xfrm>
            <a:off x="10241280" y="6419088"/>
            <a:ext cx="1463040" cy="365760"/>
          </a:xfrm>
          <a:prstGeom prst="rect">
            <a:avLst/>
          </a:prstGeom>
          <a:noFill/>
        </p:spPr>
        <p:txBody>
          <a:bodyPr wrap="square">
            <a:spAutoFit/>
          </a:bodyPr>
          <a:lstStyle/>
          <a:p>
            <a:pPr algn="r">
              <a:lnSpc>
                <a:spcPct val="100000"/>
              </a:lnSpc>
            </a:pPr>
            <a:r>
              <a:rPr sz="1000" b="0">
                <a:solidFill>
                  <a:srgbClr val="94A3B8"/>
                </a:solidFill>
                <a:latin typeface="Archivo"/>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pic>
        <p:nvPicPr>
          <p:cNvPr id="2" name="Picture 1" descr="deck-bg-x-b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40280"/>
            <a:ext cx="2011680" cy="822960"/>
          </a:xfrm>
          <a:prstGeom prst="rect">
            <a:avLst/>
          </a:prstGeom>
          <a:noFill/>
        </p:spPr>
        <p:txBody>
          <a:bodyPr wrap="square">
            <a:spAutoFit/>
          </a:bodyPr>
          <a:lstStyle/>
          <a:p>
            <a:pPr algn="l">
              <a:lnSpc>
                <a:spcPct val="100000"/>
              </a:lnSpc>
            </a:pPr>
            <a:r>
              <a:rPr sz="4400" b="1">
                <a:solidFill>
                  <a:srgbClr val="FF3B30"/>
                </a:solidFill>
                <a:latin typeface="Archivo"/>
              </a:rPr>
              <a:t>03</a:t>
            </a:r>
          </a:p>
        </p:txBody>
      </p:sp>
      <p:sp>
        <p:nvSpPr>
          <p:cNvPr id="4" name="TextBox 3"/>
          <p:cNvSpPr txBox="1"/>
          <p:nvPr/>
        </p:nvSpPr>
        <p:spPr>
          <a:xfrm>
            <a:off x="566928" y="3154680"/>
            <a:ext cx="9144000" cy="640080"/>
          </a:xfrm>
          <a:prstGeom prst="rect">
            <a:avLst/>
          </a:prstGeom>
          <a:noFill/>
        </p:spPr>
        <p:txBody>
          <a:bodyPr wrap="square">
            <a:spAutoFit/>
          </a:bodyPr>
          <a:lstStyle/>
          <a:p>
            <a:pPr algn="l">
              <a:lnSpc>
                <a:spcPct val="100000"/>
              </a:lnSpc>
            </a:pPr>
            <a:r>
              <a:rPr sz="2200" b="1">
                <a:solidFill>
                  <a:srgbClr val="F8FAFC"/>
                </a:solidFill>
                <a:latin typeface="Archivo"/>
              </a:rPr>
              <a:t>Divider on the corner X, gridless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548640" y="6419088"/>
            <a:ext cx="3657600" cy="457200"/>
          </a:xfrm>
          <a:prstGeom prst="rect">
            <a:avLst/>
          </a:prstGeom>
          <a:noFill/>
        </p:spPr>
        <p:txBody>
          <a:bodyPr wrap="square">
            <a:spAutoFit/>
          </a:bodyPr>
          <a:lstStyle/>
          <a:p>
            <a:pPr algn="l">
              <a:lnSpc>
                <a:spcPct val="100000"/>
              </a:lnSpc>
            </a:pPr>
            <a:r>
              <a:rPr sz="1200" b="1">
                <a:solidFill>
                  <a:srgbClr val="F8FAFC"/>
                </a:solidFill>
                <a:latin typeface="Archivo"/>
              </a:rPr>
              <a:t>bostoncyber</a:t>
            </a:r>
            <a:r>
              <a:rPr sz="1200" b="1">
                <a:solidFill>
                  <a:srgbClr val="FF3B30"/>
                </a:solidFill>
                <a:latin typeface="Archivo"/>
              </a:rPr>
              <a:t>x</a:t>
            </a:r>
          </a:p>
        </p:txBody>
      </p:sp>
      <p:sp>
        <p:nvSpPr>
          <p:cNvPr id="3" name="TextBox 2"/>
          <p:cNvSpPr txBox="1"/>
          <p:nvPr/>
        </p:nvSpPr>
        <p:spPr>
          <a:xfrm>
            <a:off x="10241280" y="6419088"/>
            <a:ext cx="1463040" cy="365760"/>
          </a:xfrm>
          <a:prstGeom prst="rect">
            <a:avLst/>
          </a:prstGeom>
          <a:noFill/>
        </p:spPr>
        <p:txBody>
          <a:bodyPr wrap="square">
            <a:spAutoFit/>
          </a:bodyPr>
          <a:lstStyle/>
          <a:p>
            <a:pPr algn="r">
              <a:lnSpc>
                <a:spcPct val="100000"/>
              </a:lnSpc>
            </a:pPr>
            <a:r>
              <a:rPr sz="1000" b="0">
                <a:solidFill>
                  <a:srgbClr val="94A3B8"/>
                </a:solidFill>
                <a:latin typeface="Archivo"/>
              </a:rPr>
              <a:t>07</a:t>
            </a:r>
          </a:p>
        </p:txBody>
      </p:sp>
      <p:sp>
        <p:nvSpPr>
          <p:cNvPr id="4" name="TextBox 3"/>
          <p:cNvSpPr txBox="1"/>
          <p:nvPr/>
        </p:nvSpPr>
        <p:spPr>
          <a:xfrm>
            <a:off x="548640" y="1554480"/>
            <a:ext cx="11155680" cy="1828800"/>
          </a:xfrm>
          <a:prstGeom prst="rect">
            <a:avLst/>
          </a:prstGeom>
          <a:noFill/>
        </p:spPr>
        <p:txBody>
          <a:bodyPr wrap="square">
            <a:spAutoFit/>
          </a:bodyPr>
          <a:lstStyle/>
          <a:p>
            <a:pPr algn="l">
              <a:lnSpc>
                <a:spcPct val="100000"/>
              </a:lnSpc>
            </a:pPr>
            <a:r>
              <a:rPr sz="9600" b="1">
                <a:solidFill>
                  <a:srgbClr val="F8FAFC"/>
                </a:solidFill>
                <a:latin typeface="Archivo"/>
              </a:rPr>
              <a:t>56 pts</a:t>
            </a:r>
          </a:p>
        </p:txBody>
      </p:sp>
      <p:sp>
        <p:nvSpPr>
          <p:cNvPr id="5" name="Rounded Rectangle 4"/>
          <p:cNvSpPr/>
          <p:nvPr/>
        </p:nvSpPr>
        <p:spPr>
          <a:xfrm>
            <a:off x="621792" y="3703320"/>
            <a:ext cx="2926080" cy="54864"/>
          </a:xfrm>
          <a:prstGeom prst="roundRect">
            <a:avLst>
              <a:gd name="adj" fmla="val 50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4023360"/>
            <a:ext cx="9875520" cy="1097280"/>
          </a:xfrm>
          <a:prstGeom prst="rect">
            <a:avLst/>
          </a:prstGeom>
          <a:noFill/>
        </p:spPr>
        <p:txBody>
          <a:bodyPr wrap="square">
            <a:spAutoFit/>
          </a:bodyPr>
          <a:lstStyle/>
          <a:p>
            <a:pPr algn="l">
              <a:lnSpc>
                <a:spcPct val="135000"/>
              </a:lnSpc>
            </a:pPr>
            <a:r>
              <a:rPr sz="1700" b="0">
                <a:solidFill>
                  <a:srgbClr val="94A3B8"/>
                </a:solidFill>
                <a:latin typeface="Archivo"/>
              </a:rPr>
              <a:t>between the companies adopting AI and the companies governing it.</a:t>
            </a:r>
          </a:p>
          <a:p>
            <a:pPr algn="l">
              <a:lnSpc>
                <a:spcPct val="135000"/>
              </a:lnSpc>
            </a:pPr>
            <a:r>
              <a:rPr sz="1700" b="0">
                <a:solidFill>
                  <a:srgbClr val="94A3B8"/>
                </a:solidFill>
                <a:latin typeface="Archivo"/>
              </a:rPr>
              <a:t>Replace the number and the sentence; keep the red baseline.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548640" y="6419088"/>
            <a:ext cx="3657600" cy="457200"/>
          </a:xfrm>
          <a:prstGeom prst="rect">
            <a:avLst/>
          </a:prstGeom>
          <a:noFill/>
        </p:spPr>
        <p:txBody>
          <a:bodyPr wrap="square">
            <a:spAutoFit/>
          </a:bodyPr>
          <a:lstStyle/>
          <a:p>
            <a:pPr algn="l">
              <a:lnSpc>
                <a:spcPct val="100000"/>
              </a:lnSpc>
            </a:pPr>
            <a:r>
              <a:rPr sz="1200" b="1">
                <a:solidFill>
                  <a:srgbClr val="F8FAFC"/>
                </a:solidFill>
                <a:latin typeface="Archivo"/>
              </a:rPr>
              <a:t>bostoncyber</a:t>
            </a:r>
            <a:r>
              <a:rPr sz="1200" b="1">
                <a:solidFill>
                  <a:srgbClr val="FF3B30"/>
                </a:solidFill>
                <a:latin typeface="Archivo"/>
              </a:rPr>
              <a:t>x</a:t>
            </a:r>
          </a:p>
        </p:txBody>
      </p:sp>
      <p:sp>
        <p:nvSpPr>
          <p:cNvPr id="3" name="TextBox 2"/>
          <p:cNvSpPr txBox="1"/>
          <p:nvPr/>
        </p:nvSpPr>
        <p:spPr>
          <a:xfrm>
            <a:off x="10241280" y="6419088"/>
            <a:ext cx="1463040" cy="365760"/>
          </a:xfrm>
          <a:prstGeom prst="rect">
            <a:avLst/>
          </a:prstGeom>
          <a:noFill/>
        </p:spPr>
        <p:txBody>
          <a:bodyPr wrap="square">
            <a:spAutoFit/>
          </a:bodyPr>
          <a:lstStyle/>
          <a:p>
            <a:pPr algn="r">
              <a:lnSpc>
                <a:spcPct val="100000"/>
              </a:lnSpc>
            </a:pPr>
            <a:r>
              <a:rPr sz="1000" b="0">
                <a:solidFill>
                  <a:srgbClr val="94A3B8"/>
                </a:solidFill>
                <a:latin typeface="Archivo"/>
              </a:rPr>
              <a:t>08</a:t>
            </a:r>
          </a:p>
        </p:txBody>
      </p:sp>
      <p:sp>
        <p:nvSpPr>
          <p:cNvPr id="4" name="Rounded Rectangle 3"/>
          <p:cNvSpPr/>
          <p:nvPr/>
        </p:nvSpPr>
        <p:spPr>
          <a:xfrm>
            <a:off x="621792" y="1463040"/>
            <a:ext cx="64008" cy="2926080"/>
          </a:xfrm>
          <a:prstGeom prst="roundRect">
            <a:avLst>
              <a:gd name="adj" fmla="val 50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417320"/>
            <a:ext cx="10241280" cy="2377440"/>
          </a:xfrm>
          <a:prstGeom prst="rect">
            <a:avLst/>
          </a:prstGeom>
          <a:noFill/>
        </p:spPr>
        <p:txBody>
          <a:bodyPr wrap="square">
            <a:spAutoFit/>
          </a:bodyPr>
          <a:lstStyle/>
          <a:p>
            <a:pPr algn="l">
              <a:lnSpc>
                <a:spcPct val="130000"/>
              </a:lnSpc>
            </a:pPr>
            <a:r>
              <a:rPr sz="2400" b="1">
                <a:solidFill>
                  <a:srgbClr val="F8FAFC"/>
                </a:solidFill>
                <a:latin typeface="Archivo"/>
              </a:rPr>
              <a:t>"You cannot adopt trustworthy AI without cybersecurity, and you</a:t>
            </a:r>
          </a:p>
          <a:p>
            <a:pPr algn="l">
              <a:lnSpc>
                <a:spcPct val="130000"/>
              </a:lnSpc>
            </a:pPr>
            <a:r>
              <a:rPr sz="2400" b="1">
                <a:solidFill>
                  <a:srgbClr val="F8FAFC"/>
                </a:solidFill>
                <a:latin typeface="Archivo"/>
              </a:rPr>
              <a:t>cannot defend your organization from disruption without AI."</a:t>
            </a:r>
          </a:p>
        </p:txBody>
      </p:sp>
      <p:sp>
        <p:nvSpPr>
          <p:cNvPr id="6" name="TextBox 5"/>
          <p:cNvSpPr txBox="1"/>
          <p:nvPr/>
        </p:nvSpPr>
        <p:spPr>
          <a:xfrm>
            <a:off x="1005840" y="4160520"/>
            <a:ext cx="9144000" cy="457200"/>
          </a:xfrm>
          <a:prstGeom prst="rect">
            <a:avLst/>
          </a:prstGeom>
          <a:noFill/>
        </p:spPr>
        <p:txBody>
          <a:bodyPr wrap="square">
            <a:spAutoFit/>
          </a:bodyPr>
          <a:lstStyle/>
          <a:p>
            <a:pPr algn="l">
              <a:lnSpc>
                <a:spcPct val="100000"/>
              </a:lnSpc>
            </a:pPr>
            <a:r>
              <a:rPr sz="1350" b="0">
                <a:solidFill>
                  <a:srgbClr val="94A3B8"/>
                </a:solidFill>
                <a:latin typeface="Archivo"/>
              </a:rPr>
              <a:t>Name Surname  ·  Title, Company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pic>
        <p:nvPicPr>
          <p:cNvPr id="2" name="Picture 1" descr="deck-bg-ghos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651760"/>
            <a:ext cx="11155680" cy="822960"/>
          </a:xfrm>
          <a:prstGeom prst="rect">
            <a:avLst/>
          </a:prstGeom>
          <a:noFill/>
        </p:spPr>
        <p:txBody>
          <a:bodyPr wrap="square">
            <a:spAutoFit/>
          </a:bodyPr>
          <a:lstStyle/>
          <a:p>
            <a:pPr algn="l">
              <a:lnSpc>
                <a:spcPct val="100000"/>
              </a:lnSpc>
            </a:pPr>
            <a:r>
              <a:rPr sz="3100" b="1">
                <a:solidFill>
                  <a:srgbClr val="FF3B30"/>
                </a:solidFill>
                <a:latin typeface="Archivo"/>
              </a:rPr>
              <a:t>Transform</a:t>
            </a:r>
            <a:r>
              <a:rPr sz="3100" b="1">
                <a:solidFill>
                  <a:srgbClr val="F8FAFC"/>
                </a:solidFill>
                <a:latin typeface="Archivo"/>
              </a:rPr>
              <a:t> with AI.  </a:t>
            </a:r>
            <a:r>
              <a:rPr sz="3100" b="1">
                <a:solidFill>
                  <a:srgbClr val="FF3B30"/>
                </a:solidFill>
                <a:latin typeface="Archivo"/>
              </a:rPr>
              <a:t>Defend</a:t>
            </a:r>
            <a:r>
              <a:rPr sz="3100" b="1">
                <a:solidFill>
                  <a:srgbClr val="F8FAFC"/>
                </a:solidFill>
                <a:latin typeface="Archivo"/>
              </a:rPr>
              <a:t> with AI.  </a:t>
            </a:r>
            <a:r>
              <a:rPr sz="3100" b="1">
                <a:solidFill>
                  <a:srgbClr val="FF3B30"/>
                </a:solidFill>
                <a:latin typeface="Archivo"/>
              </a:rPr>
              <a:t>Achieve</a:t>
            </a:r>
            <a:r>
              <a:rPr sz="3100" b="1">
                <a:solidFill>
                  <a:srgbClr val="F8FAFC"/>
                </a:solidFill>
                <a:latin typeface="Archivo"/>
              </a:rPr>
              <a:t> with AI.</a:t>
            </a:r>
          </a:p>
        </p:txBody>
      </p:sp>
      <p:sp>
        <p:nvSpPr>
          <p:cNvPr id="4" name="TextBox 3"/>
          <p:cNvSpPr txBox="1"/>
          <p:nvPr/>
        </p:nvSpPr>
        <p:spPr>
          <a:xfrm>
            <a:off x="566928" y="3703320"/>
            <a:ext cx="10515600" cy="548640"/>
          </a:xfrm>
          <a:prstGeom prst="rect">
            <a:avLst/>
          </a:prstGeom>
          <a:noFill/>
        </p:spPr>
        <p:txBody>
          <a:bodyPr wrap="square">
            <a:spAutoFit/>
          </a:bodyPr>
          <a:lstStyle/>
          <a:p>
            <a:pPr algn="l">
              <a:lnSpc>
                <a:spcPct val="100000"/>
              </a:lnSpc>
            </a:pPr>
            <a:r>
              <a:rPr sz="1450" b="0">
                <a:solidFill>
                  <a:srgbClr val="94A3B8"/>
                </a:solidFill>
                <a:latin typeface="Archivo"/>
              </a:rPr>
              <a:t>The banner composition as a slide: use to open or close a section on the brand promise.</a:t>
            </a:r>
          </a:p>
        </p:txBody>
      </p:sp>
      <p:sp>
        <p:nvSpPr>
          <p:cNvPr id="5" name="TextBox 4"/>
          <p:cNvSpPr txBox="1"/>
          <p:nvPr/>
        </p:nvSpPr>
        <p:spPr>
          <a:xfrm>
            <a:off x="548640" y="6263640"/>
            <a:ext cx="3657600" cy="457200"/>
          </a:xfrm>
          <a:prstGeom prst="rect">
            <a:avLst/>
          </a:prstGeom>
          <a:noFill/>
        </p:spPr>
        <p:txBody>
          <a:bodyPr wrap="square">
            <a:spAutoFit/>
          </a:bodyPr>
          <a:lstStyle/>
          <a:p>
            <a:pPr algn="l">
              <a:lnSpc>
                <a:spcPct val="100000"/>
              </a:lnSpc>
            </a:pPr>
            <a:r>
              <a:rPr sz="1600" b="1">
                <a:solidFill>
                  <a:srgbClr val="F8FAFC"/>
                </a:solidFill>
                <a:latin typeface="Archivo"/>
              </a:rPr>
              <a:t>bostoncyber</a:t>
            </a:r>
            <a:r>
              <a:rPr sz="1600" b="1">
                <a:solidFill>
                  <a:srgbClr val="FF3B30"/>
                </a:solidFill>
                <a:latin typeface="Archivo"/>
              </a:rPr>
              <a:t>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3657600" cy="457200"/>
          </a:xfrm>
          <a:prstGeom prst="rect">
            <a:avLst/>
          </a:prstGeom>
          <a:noFill/>
        </p:spPr>
        <p:txBody>
          <a:bodyPr wrap="square">
            <a:spAutoFit/>
          </a:bodyPr>
          <a:lstStyle/>
          <a:p>
            <a:pPr algn="l">
              <a:lnSpc>
                <a:spcPct val="100000"/>
              </a:lnSpc>
            </a:pPr>
            <a:r>
              <a:rPr sz="1200" b="1">
                <a:solidFill>
                  <a:srgbClr val="0A0E1A"/>
                </a:solidFill>
                <a:latin typeface="Archivo"/>
              </a:rPr>
              <a:t>bostoncyber</a:t>
            </a:r>
            <a:r>
              <a:rPr sz="1200" b="1">
                <a:solidFill>
                  <a:srgbClr val="FF3B30"/>
                </a:solidFill>
                <a:latin typeface="Archivo"/>
              </a:rPr>
              <a:t>x</a:t>
            </a:r>
          </a:p>
        </p:txBody>
      </p:sp>
      <p:sp>
        <p:nvSpPr>
          <p:cNvPr id="3" name="TextBox 2"/>
          <p:cNvSpPr txBox="1"/>
          <p:nvPr/>
        </p:nvSpPr>
        <p:spPr>
          <a:xfrm>
            <a:off x="10241280" y="6419088"/>
            <a:ext cx="1463040" cy="365760"/>
          </a:xfrm>
          <a:prstGeom prst="rect">
            <a:avLst/>
          </a:prstGeom>
          <a:noFill/>
        </p:spPr>
        <p:txBody>
          <a:bodyPr wrap="square">
            <a:spAutoFit/>
          </a:bodyPr>
          <a:lstStyle/>
          <a:p>
            <a:pPr algn="r">
              <a:lnSpc>
                <a:spcPct val="100000"/>
              </a:lnSpc>
            </a:pPr>
            <a:r>
              <a:rPr sz="1000" b="0">
                <a:solidFill>
                  <a:srgbClr val="475569"/>
                </a:solidFill>
                <a:latin typeface="Archivo"/>
              </a:rPr>
              <a:t>12</a:t>
            </a:r>
          </a:p>
        </p:txBody>
      </p:sp>
      <p:sp>
        <p:nvSpPr>
          <p:cNvPr id="4" name="TextBox 3"/>
          <p:cNvSpPr txBox="1"/>
          <p:nvPr/>
        </p:nvSpPr>
        <p:spPr>
          <a:xfrm>
            <a:off x="548640" y="502920"/>
            <a:ext cx="7315200" cy="365760"/>
          </a:xfrm>
          <a:prstGeom prst="rect">
            <a:avLst/>
          </a:prstGeom>
          <a:noFill/>
        </p:spPr>
        <p:txBody>
          <a:bodyPr wrap="square">
            <a:spAutoFit/>
          </a:bodyPr>
          <a:lstStyle/>
          <a:p>
            <a:pPr algn="l">
              <a:lnSpc>
                <a:spcPct val="100000"/>
              </a:lnSpc>
            </a:pPr>
            <a:r>
              <a:rPr sz="1250" b="1">
                <a:solidFill>
                  <a:srgbClr val="FF3B30"/>
                </a:solidFill>
                <a:latin typeface="Archivo"/>
              </a:rPr>
              <a:t>KICKER LABEL</a:t>
            </a:r>
          </a:p>
        </p:txBody>
      </p:sp>
      <p:sp>
        <p:nvSpPr>
          <p:cNvPr id="5" name="TextBox 4"/>
          <p:cNvSpPr txBox="1"/>
          <p:nvPr/>
        </p:nvSpPr>
        <p:spPr>
          <a:xfrm>
            <a:off x="548640" y="914400"/>
            <a:ext cx="10972800" cy="822960"/>
          </a:xfrm>
          <a:prstGeom prst="rect">
            <a:avLst/>
          </a:prstGeom>
          <a:noFill/>
        </p:spPr>
        <p:txBody>
          <a:bodyPr wrap="square">
            <a:spAutoFit/>
          </a:bodyPr>
          <a:lstStyle/>
          <a:p>
            <a:pPr algn="l">
              <a:lnSpc>
                <a:spcPct val="100000"/>
              </a:lnSpc>
            </a:pPr>
            <a:r>
              <a:rPr sz="3000" b="1">
                <a:solidFill>
                  <a:srgbClr val="0A0E1A"/>
                </a:solidFill>
                <a:latin typeface="Archivo"/>
              </a:rPr>
              <a:t>White canvas for text-heavy slides.</a:t>
            </a:r>
          </a:p>
        </p:txBody>
      </p:sp>
      <p:sp>
        <p:nvSpPr>
          <p:cNvPr id="6" name="TextBox 5"/>
          <p:cNvSpPr txBox="1"/>
          <p:nvPr/>
        </p:nvSpPr>
        <p:spPr>
          <a:xfrm>
            <a:off x="548640" y="1965960"/>
            <a:ext cx="10607040" cy="548640"/>
          </a:xfrm>
          <a:prstGeom prst="rect">
            <a:avLst/>
          </a:prstGeom>
          <a:noFill/>
        </p:spPr>
        <p:txBody>
          <a:bodyPr wrap="square">
            <a:spAutoFit/>
          </a:bodyPr>
          <a:lstStyle/>
          <a:p>
            <a:pPr algn="l">
              <a:lnSpc>
                <a:spcPct val="100000"/>
              </a:lnSpc>
            </a:pPr>
            <a:r>
              <a:rPr sz="1500" b="0">
                <a:solidFill>
                  <a:srgbClr val="475569"/>
                </a:solidFill>
                <a:latin typeface="Archivo"/>
              </a:rPr>
              <a:t>Headings are ink, body copy is slate, accents are red. Nothing else changes.</a:t>
            </a:r>
          </a:p>
        </p:txBody>
      </p:sp>
      <p:sp>
        <p:nvSpPr>
          <p:cNvPr id="7" name="Rounded Rectangle 6"/>
          <p:cNvSpPr/>
          <p:nvPr/>
        </p:nvSpPr>
        <p:spPr>
          <a:xfrm>
            <a:off x="594360" y="3026664"/>
            <a:ext cx="256032" cy="41148"/>
          </a:xfrm>
          <a:prstGeom prst="roundRect">
            <a:avLst>
              <a:gd name="adj" fmla="val 50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880360"/>
            <a:ext cx="3657600" cy="457200"/>
          </a:xfrm>
          <a:prstGeom prst="rect">
            <a:avLst/>
          </a:prstGeom>
          <a:noFill/>
        </p:spPr>
        <p:txBody>
          <a:bodyPr wrap="square">
            <a:spAutoFit/>
          </a:bodyPr>
          <a:lstStyle/>
          <a:p>
            <a:pPr algn="l">
              <a:lnSpc>
                <a:spcPct val="100000"/>
              </a:lnSpc>
            </a:pPr>
            <a:r>
              <a:rPr sz="1500" b="1">
                <a:solidFill>
                  <a:srgbClr val="0A0E1A"/>
                </a:solidFill>
                <a:latin typeface="Archivo"/>
              </a:rPr>
              <a:t>First point</a:t>
            </a:r>
          </a:p>
        </p:txBody>
      </p:sp>
      <p:sp>
        <p:nvSpPr>
          <p:cNvPr id="9" name="TextBox 8"/>
          <p:cNvSpPr txBox="1"/>
          <p:nvPr/>
        </p:nvSpPr>
        <p:spPr>
          <a:xfrm>
            <a:off x="4846320" y="2880360"/>
            <a:ext cx="6766560" cy="914400"/>
          </a:xfrm>
          <a:prstGeom prst="rect">
            <a:avLst/>
          </a:prstGeom>
          <a:noFill/>
        </p:spPr>
        <p:txBody>
          <a:bodyPr wrap="square">
            <a:spAutoFit/>
          </a:bodyPr>
          <a:lstStyle/>
          <a:p>
            <a:pPr algn="l">
              <a:lnSpc>
                <a:spcPct val="125000"/>
              </a:lnSpc>
            </a:pPr>
            <a:r>
              <a:rPr sz="1300" b="0">
                <a:solidFill>
                  <a:srgbClr val="475569"/>
                </a:solidFill>
                <a:latin typeface="Archivo"/>
              </a:rPr>
              <a:t>Two or three sentences of supporting detail sit comfortably here without crowding the canvas.</a:t>
            </a:r>
          </a:p>
        </p:txBody>
      </p:sp>
      <p:sp>
        <p:nvSpPr>
          <p:cNvPr id="10" name="Rounded Rectangle 9"/>
          <p:cNvSpPr/>
          <p:nvPr/>
        </p:nvSpPr>
        <p:spPr>
          <a:xfrm>
            <a:off x="594360" y="4078224"/>
            <a:ext cx="256032" cy="41148"/>
          </a:xfrm>
          <a:prstGeom prst="roundRect">
            <a:avLst>
              <a:gd name="adj" fmla="val 50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931920"/>
            <a:ext cx="3657600" cy="457200"/>
          </a:xfrm>
          <a:prstGeom prst="rect">
            <a:avLst/>
          </a:prstGeom>
          <a:noFill/>
        </p:spPr>
        <p:txBody>
          <a:bodyPr wrap="square">
            <a:spAutoFit/>
          </a:bodyPr>
          <a:lstStyle/>
          <a:p>
            <a:pPr algn="l">
              <a:lnSpc>
                <a:spcPct val="100000"/>
              </a:lnSpc>
            </a:pPr>
            <a:r>
              <a:rPr sz="1500" b="1">
                <a:solidFill>
                  <a:srgbClr val="0A0E1A"/>
                </a:solidFill>
                <a:latin typeface="Archivo"/>
              </a:rPr>
              <a:t>Second point</a:t>
            </a:r>
          </a:p>
        </p:txBody>
      </p:sp>
      <p:sp>
        <p:nvSpPr>
          <p:cNvPr id="12" name="TextBox 11"/>
          <p:cNvSpPr txBox="1"/>
          <p:nvPr/>
        </p:nvSpPr>
        <p:spPr>
          <a:xfrm>
            <a:off x="4846320" y="3931920"/>
            <a:ext cx="6766560" cy="914400"/>
          </a:xfrm>
          <a:prstGeom prst="rect">
            <a:avLst/>
          </a:prstGeom>
          <a:noFill/>
        </p:spPr>
        <p:txBody>
          <a:bodyPr wrap="square">
            <a:spAutoFit/>
          </a:bodyPr>
          <a:lstStyle/>
          <a:p>
            <a:pPr algn="l">
              <a:lnSpc>
                <a:spcPct val="125000"/>
              </a:lnSpc>
            </a:pPr>
            <a:r>
              <a:rPr sz="1300" b="0">
                <a:solidFill>
                  <a:srgbClr val="475569"/>
                </a:solidFill>
                <a:latin typeface="Archivo"/>
              </a:rPr>
              <a:t>Keep body copy at fourteen points or larger so the back of the room can read it.</a:t>
            </a:r>
          </a:p>
        </p:txBody>
      </p:sp>
      <p:sp>
        <p:nvSpPr>
          <p:cNvPr id="13" name="Rounded Rectangle 12"/>
          <p:cNvSpPr/>
          <p:nvPr/>
        </p:nvSpPr>
        <p:spPr>
          <a:xfrm>
            <a:off x="594360" y="5129783"/>
            <a:ext cx="256032" cy="41148"/>
          </a:xfrm>
          <a:prstGeom prst="roundRect">
            <a:avLst>
              <a:gd name="adj" fmla="val 50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983479"/>
            <a:ext cx="3657600" cy="457200"/>
          </a:xfrm>
          <a:prstGeom prst="rect">
            <a:avLst/>
          </a:prstGeom>
          <a:noFill/>
        </p:spPr>
        <p:txBody>
          <a:bodyPr wrap="square">
            <a:spAutoFit/>
          </a:bodyPr>
          <a:lstStyle/>
          <a:p>
            <a:pPr algn="l">
              <a:lnSpc>
                <a:spcPct val="100000"/>
              </a:lnSpc>
            </a:pPr>
            <a:r>
              <a:rPr sz="1500" b="1">
                <a:solidFill>
                  <a:srgbClr val="0A0E1A"/>
                </a:solidFill>
                <a:latin typeface="Archivo"/>
              </a:rPr>
              <a:t>Third point</a:t>
            </a:r>
          </a:p>
        </p:txBody>
      </p:sp>
      <p:sp>
        <p:nvSpPr>
          <p:cNvPr id="15" name="TextBox 14"/>
          <p:cNvSpPr txBox="1"/>
          <p:nvPr/>
        </p:nvSpPr>
        <p:spPr>
          <a:xfrm>
            <a:off x="4846320" y="4983479"/>
            <a:ext cx="6766560" cy="914400"/>
          </a:xfrm>
          <a:prstGeom prst="rect">
            <a:avLst/>
          </a:prstGeom>
          <a:noFill/>
        </p:spPr>
        <p:txBody>
          <a:bodyPr wrap="square">
            <a:spAutoFit/>
          </a:bodyPr>
          <a:lstStyle/>
          <a:p>
            <a:pPr algn="l">
              <a:lnSpc>
                <a:spcPct val="125000"/>
              </a:lnSpc>
            </a:pPr>
            <a:r>
              <a:rPr sz="1300" b="0">
                <a:solidFill>
                  <a:srgbClr val="475569"/>
                </a:solidFill>
                <a:latin typeface="Archivo"/>
              </a:rPr>
              <a:t>If a point needs more than four lines, it wants its own slide.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3657600" cy="457200"/>
          </a:xfrm>
          <a:prstGeom prst="rect">
            <a:avLst/>
          </a:prstGeom>
          <a:noFill/>
        </p:spPr>
        <p:txBody>
          <a:bodyPr wrap="square">
            <a:spAutoFit/>
          </a:bodyPr>
          <a:lstStyle/>
          <a:p>
            <a:pPr algn="l">
              <a:lnSpc>
                <a:spcPct val="100000"/>
              </a:lnSpc>
            </a:pPr>
            <a:r>
              <a:rPr sz="1200" b="1">
                <a:solidFill>
                  <a:srgbClr val="0A0E1A"/>
                </a:solidFill>
                <a:latin typeface="Archivo"/>
              </a:rPr>
              <a:t>bostoncyber</a:t>
            </a:r>
            <a:r>
              <a:rPr sz="1200" b="1">
                <a:solidFill>
                  <a:srgbClr val="FF3B30"/>
                </a:solidFill>
                <a:latin typeface="Archivo"/>
              </a:rPr>
              <a:t>x</a:t>
            </a:r>
          </a:p>
        </p:txBody>
      </p:sp>
      <p:sp>
        <p:nvSpPr>
          <p:cNvPr id="3" name="TextBox 2"/>
          <p:cNvSpPr txBox="1"/>
          <p:nvPr/>
        </p:nvSpPr>
        <p:spPr>
          <a:xfrm>
            <a:off x="10241280" y="6419088"/>
            <a:ext cx="1463040" cy="365760"/>
          </a:xfrm>
          <a:prstGeom prst="rect">
            <a:avLst/>
          </a:prstGeom>
          <a:noFill/>
        </p:spPr>
        <p:txBody>
          <a:bodyPr wrap="square">
            <a:spAutoFit/>
          </a:bodyPr>
          <a:lstStyle/>
          <a:p>
            <a:pPr algn="r">
              <a:lnSpc>
                <a:spcPct val="100000"/>
              </a:lnSpc>
            </a:pPr>
            <a:r>
              <a:rPr sz="1000" b="0">
                <a:solidFill>
                  <a:srgbClr val="475569"/>
                </a:solidFill>
                <a:latin typeface="Archivo"/>
              </a:rPr>
              <a:t>13</a:t>
            </a:r>
          </a:p>
        </p:txBody>
      </p:sp>
      <p:sp>
        <p:nvSpPr>
          <p:cNvPr id="4" name="TextBox 3"/>
          <p:cNvSpPr txBox="1"/>
          <p:nvPr/>
        </p:nvSpPr>
        <p:spPr>
          <a:xfrm>
            <a:off x="548640" y="502920"/>
            <a:ext cx="7315200" cy="365760"/>
          </a:xfrm>
          <a:prstGeom prst="rect">
            <a:avLst/>
          </a:prstGeom>
          <a:noFill/>
        </p:spPr>
        <p:txBody>
          <a:bodyPr wrap="square">
            <a:spAutoFit/>
          </a:bodyPr>
          <a:lstStyle/>
          <a:p>
            <a:pPr algn="l">
              <a:lnSpc>
                <a:spcPct val="100000"/>
              </a:lnSpc>
            </a:pPr>
            <a:r>
              <a:rPr sz="1250" b="1">
                <a:solidFill>
                  <a:srgbClr val="FF3B30"/>
                </a:solidFill>
                <a:latin typeface="Archivo"/>
              </a:rPr>
              <a:t>KICKER LABEL</a:t>
            </a:r>
          </a:p>
        </p:txBody>
      </p:sp>
      <p:sp>
        <p:nvSpPr>
          <p:cNvPr id="5" name="TextBox 4"/>
          <p:cNvSpPr txBox="1"/>
          <p:nvPr/>
        </p:nvSpPr>
        <p:spPr>
          <a:xfrm>
            <a:off x="548640" y="914400"/>
            <a:ext cx="10972800" cy="822960"/>
          </a:xfrm>
          <a:prstGeom prst="rect">
            <a:avLst/>
          </a:prstGeom>
          <a:noFill/>
        </p:spPr>
        <p:txBody>
          <a:bodyPr wrap="square">
            <a:spAutoFit/>
          </a:bodyPr>
          <a:lstStyle/>
          <a:p>
            <a:pPr algn="l">
              <a:lnSpc>
                <a:spcPct val="100000"/>
              </a:lnSpc>
            </a:pPr>
            <a:r>
              <a:rPr sz="3000" b="1">
                <a:solidFill>
                  <a:srgbClr val="0A0E1A"/>
                </a:solidFill>
                <a:latin typeface="Archivo"/>
              </a:rPr>
              <a:t>Two columns, when ideas pair.</a:t>
            </a:r>
          </a:p>
        </p:txBody>
      </p:sp>
      <p:sp>
        <p:nvSpPr>
          <p:cNvPr id="6" name="Rounded Rectangle 5"/>
          <p:cNvSpPr/>
          <p:nvPr/>
        </p:nvSpPr>
        <p:spPr>
          <a:xfrm>
            <a:off x="548640" y="2011680"/>
            <a:ext cx="5349240" cy="393192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31720"/>
            <a:ext cx="4663440" cy="457200"/>
          </a:xfrm>
          <a:prstGeom prst="rect">
            <a:avLst/>
          </a:prstGeom>
          <a:noFill/>
        </p:spPr>
        <p:txBody>
          <a:bodyPr wrap="square">
            <a:spAutoFit/>
          </a:bodyPr>
          <a:lstStyle/>
          <a:p>
            <a:pPr algn="l">
              <a:lnSpc>
                <a:spcPct val="100000"/>
              </a:lnSpc>
            </a:pPr>
            <a:r>
              <a:rPr sz="1600" b="1">
                <a:solidFill>
                  <a:srgbClr val="0A0E1A"/>
                </a:solidFill>
                <a:latin typeface="Archivo"/>
              </a:rPr>
              <a:t>Before / today</a:t>
            </a:r>
          </a:p>
        </p:txBody>
      </p:sp>
      <p:sp>
        <p:nvSpPr>
          <p:cNvPr id="8" name="TextBox 7"/>
          <p:cNvSpPr txBox="1"/>
          <p:nvPr/>
        </p:nvSpPr>
        <p:spPr>
          <a:xfrm>
            <a:off x="868680" y="2971800"/>
            <a:ext cx="4709160" cy="2743200"/>
          </a:xfrm>
          <a:prstGeom prst="rect">
            <a:avLst/>
          </a:prstGeom>
          <a:noFill/>
        </p:spPr>
        <p:txBody>
          <a:bodyPr wrap="square">
            <a:spAutoFit/>
          </a:bodyPr>
          <a:lstStyle/>
          <a:p>
            <a:pPr algn="l">
              <a:lnSpc>
                <a:spcPct val="130000"/>
              </a:lnSpc>
            </a:pPr>
            <a:r>
              <a:rPr sz="1300" b="0">
                <a:solidFill>
                  <a:srgbClr val="475569"/>
                </a:solidFill>
                <a:latin typeface="Archivo"/>
              </a:rPr>
              <a:t>Replace with the state, the plan, the option, or the offer.</a:t>
            </a:r>
          </a:p>
          <a:p>
            <a:pPr algn="l">
              <a:lnSpc>
                <a:spcPct val="130000"/>
              </a:lnSpc>
            </a:pPr>
            <a:r>
              <a:rPr sz="1300" b="0">
                <a:solidFill>
                  <a:srgbClr val="475569"/>
                </a:solidFill>
                <a:latin typeface="Archivo"/>
              </a:rPr>
              <a:t/>
            </a:r>
          </a:p>
          <a:p>
            <a:pPr algn="l">
              <a:lnSpc>
                <a:spcPct val="130000"/>
              </a:lnSpc>
            </a:pPr>
            <a:r>
              <a:rPr sz="1300" b="0">
                <a:solidFill>
                  <a:srgbClr val="475569"/>
                </a:solidFill>
                <a:latin typeface="Archivo"/>
              </a:rPr>
              <a:t>Panels are the light panel gray; they hold their shape against pure white without borders.</a:t>
            </a:r>
          </a:p>
        </p:txBody>
      </p:sp>
      <p:sp>
        <p:nvSpPr>
          <p:cNvPr id="9" name="Rounded Rectangle 8"/>
          <p:cNvSpPr/>
          <p:nvPr/>
        </p:nvSpPr>
        <p:spPr>
          <a:xfrm>
            <a:off x="6355079" y="2011680"/>
            <a:ext cx="5349240" cy="393192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19" y="2331720"/>
            <a:ext cx="4663440" cy="457200"/>
          </a:xfrm>
          <a:prstGeom prst="rect">
            <a:avLst/>
          </a:prstGeom>
          <a:noFill/>
        </p:spPr>
        <p:txBody>
          <a:bodyPr wrap="square">
            <a:spAutoFit/>
          </a:bodyPr>
          <a:lstStyle/>
          <a:p>
            <a:pPr algn="l">
              <a:lnSpc>
                <a:spcPct val="100000"/>
              </a:lnSpc>
            </a:pPr>
            <a:r>
              <a:rPr sz="1600" b="1">
                <a:solidFill>
                  <a:srgbClr val="E02D22"/>
                </a:solidFill>
                <a:latin typeface="Archivo"/>
              </a:rPr>
              <a:t>After / with BCX</a:t>
            </a:r>
          </a:p>
        </p:txBody>
      </p:sp>
      <p:sp>
        <p:nvSpPr>
          <p:cNvPr id="11" name="TextBox 10"/>
          <p:cNvSpPr txBox="1"/>
          <p:nvPr/>
        </p:nvSpPr>
        <p:spPr>
          <a:xfrm>
            <a:off x="6675119" y="2971800"/>
            <a:ext cx="4709160" cy="2743200"/>
          </a:xfrm>
          <a:prstGeom prst="rect">
            <a:avLst/>
          </a:prstGeom>
          <a:noFill/>
        </p:spPr>
        <p:txBody>
          <a:bodyPr wrap="square">
            <a:spAutoFit/>
          </a:bodyPr>
          <a:lstStyle/>
          <a:p>
            <a:pPr algn="l">
              <a:lnSpc>
                <a:spcPct val="130000"/>
              </a:lnSpc>
            </a:pPr>
            <a:r>
              <a:rPr sz="1300" b="0">
                <a:solidFill>
                  <a:srgbClr val="475569"/>
                </a:solidFill>
                <a:latin typeface="Archivo"/>
              </a:rPr>
              <a:t>Replace with the state, the plan, the option, or the offer.</a:t>
            </a:r>
          </a:p>
          <a:p>
            <a:pPr algn="l">
              <a:lnSpc>
                <a:spcPct val="130000"/>
              </a:lnSpc>
            </a:pPr>
            <a:r>
              <a:rPr sz="1300" b="0">
                <a:solidFill>
                  <a:srgbClr val="475569"/>
                </a:solidFill>
                <a:latin typeface="Archivo"/>
              </a:rPr>
              <a:t/>
            </a:r>
          </a:p>
          <a:p>
            <a:pPr algn="l">
              <a:lnSpc>
                <a:spcPct val="130000"/>
              </a:lnSpc>
            </a:pPr>
            <a:r>
              <a:rPr sz="1300" b="0">
                <a:solidFill>
                  <a:srgbClr val="475569"/>
                </a:solidFill>
                <a:latin typeface="Archivo"/>
              </a:rPr>
              <a:t>Panels are the light panel gray; they hold their shape against pure white without borders.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3657600" cy="457200"/>
          </a:xfrm>
          <a:prstGeom prst="rect">
            <a:avLst/>
          </a:prstGeom>
          <a:noFill/>
        </p:spPr>
        <p:txBody>
          <a:bodyPr wrap="square">
            <a:spAutoFit/>
          </a:bodyPr>
          <a:lstStyle/>
          <a:p>
            <a:pPr algn="l">
              <a:lnSpc>
                <a:spcPct val="100000"/>
              </a:lnSpc>
            </a:pPr>
            <a:r>
              <a:rPr sz="1200" b="1">
                <a:solidFill>
                  <a:srgbClr val="0A0E1A"/>
                </a:solidFill>
                <a:latin typeface="Archivo"/>
              </a:rPr>
              <a:t>bostoncyber</a:t>
            </a:r>
            <a:r>
              <a:rPr sz="1200" b="1">
                <a:solidFill>
                  <a:srgbClr val="FF3B30"/>
                </a:solidFill>
                <a:latin typeface="Archivo"/>
              </a:rPr>
              <a:t>x</a:t>
            </a:r>
          </a:p>
        </p:txBody>
      </p:sp>
      <p:sp>
        <p:nvSpPr>
          <p:cNvPr id="3" name="TextBox 2"/>
          <p:cNvSpPr txBox="1"/>
          <p:nvPr/>
        </p:nvSpPr>
        <p:spPr>
          <a:xfrm>
            <a:off x="10241280" y="6419088"/>
            <a:ext cx="1463040" cy="365760"/>
          </a:xfrm>
          <a:prstGeom prst="rect">
            <a:avLst/>
          </a:prstGeom>
          <a:noFill/>
        </p:spPr>
        <p:txBody>
          <a:bodyPr wrap="square">
            <a:spAutoFit/>
          </a:bodyPr>
          <a:lstStyle/>
          <a:p>
            <a:pPr algn="r">
              <a:lnSpc>
                <a:spcPct val="100000"/>
              </a:lnSpc>
            </a:pPr>
            <a:r>
              <a:rPr sz="1000" b="0">
                <a:solidFill>
                  <a:srgbClr val="475569"/>
                </a:solidFill>
                <a:latin typeface="Archivo"/>
              </a:rPr>
              <a:t>12</a:t>
            </a:r>
          </a:p>
        </p:txBody>
      </p:sp>
      <p:sp>
        <p:nvSpPr>
          <p:cNvPr id="4" name="TextBox 3"/>
          <p:cNvSpPr txBox="1"/>
          <p:nvPr/>
        </p:nvSpPr>
        <p:spPr>
          <a:xfrm>
            <a:off x="548640" y="502920"/>
            <a:ext cx="7315200" cy="365760"/>
          </a:xfrm>
          <a:prstGeom prst="rect">
            <a:avLst/>
          </a:prstGeom>
          <a:noFill/>
        </p:spPr>
        <p:txBody>
          <a:bodyPr wrap="square">
            <a:spAutoFit/>
          </a:bodyPr>
          <a:lstStyle/>
          <a:p>
            <a:pPr algn="l">
              <a:lnSpc>
                <a:spcPct val="100000"/>
              </a:lnSpc>
            </a:pPr>
            <a:r>
              <a:rPr sz="1250" b="1">
                <a:solidFill>
                  <a:srgbClr val="FF3B30"/>
                </a:solidFill>
                <a:latin typeface="Archivo"/>
              </a:rPr>
              <a:t>ARCHITECTURE</a:t>
            </a:r>
          </a:p>
        </p:txBody>
      </p:sp>
      <p:sp>
        <p:nvSpPr>
          <p:cNvPr id="5" name="TextBox 4"/>
          <p:cNvSpPr txBox="1"/>
          <p:nvPr/>
        </p:nvSpPr>
        <p:spPr>
          <a:xfrm>
            <a:off x="548640" y="914400"/>
            <a:ext cx="10972800" cy="822960"/>
          </a:xfrm>
          <a:prstGeom prst="rect">
            <a:avLst/>
          </a:prstGeom>
          <a:noFill/>
        </p:spPr>
        <p:txBody>
          <a:bodyPr wrap="square">
            <a:spAutoFit/>
          </a:bodyPr>
          <a:lstStyle/>
          <a:p>
            <a:pPr algn="l">
              <a:lnSpc>
                <a:spcPct val="100000"/>
              </a:lnSpc>
            </a:pPr>
            <a:r>
              <a:rPr sz="3000" b="1">
                <a:solidFill>
                  <a:srgbClr val="0A0E1A"/>
                </a:solidFill>
                <a:latin typeface="Archivo"/>
              </a:rPr>
              <a:t>Diagram canvas.</a:t>
            </a:r>
          </a:p>
        </p:txBody>
      </p:sp>
      <p:sp>
        <p:nvSpPr>
          <p:cNvPr id="6" name="Rounded Rectangle 5"/>
          <p:cNvSpPr/>
          <p:nvPr/>
        </p:nvSpPr>
        <p:spPr>
          <a:xfrm>
            <a:off x="548640" y="1920240"/>
            <a:ext cx="11091672" cy="3977639"/>
          </a:xfrm>
          <a:prstGeom prst="roundRect">
            <a:avLst>
              <a:gd name="adj" fmla="val 3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657600"/>
            <a:ext cx="11091672" cy="548640"/>
          </a:xfrm>
          <a:prstGeom prst="rect">
            <a:avLst/>
          </a:prstGeom>
          <a:noFill/>
        </p:spPr>
        <p:txBody>
          <a:bodyPr wrap="square">
            <a:spAutoFit/>
          </a:bodyPr>
          <a:lstStyle/>
          <a:p>
            <a:pPr algn="ctr">
              <a:lnSpc>
                <a:spcPct val="130000"/>
              </a:lnSpc>
            </a:pPr>
            <a:r>
              <a:rPr sz="1300" b="0">
                <a:solidFill>
                  <a:srgbClr val="475569"/>
                </a:solidFill>
                <a:latin typeface="Archivo"/>
              </a:rPr>
              <a:t>Place the architecture or flow diagram here.</a:t>
            </a:r>
          </a:p>
          <a:p>
            <a:pPr algn="ctr">
              <a:lnSpc>
                <a:spcPct val="130000"/>
              </a:lnSpc>
            </a:pPr>
            <a:r>
              <a:rPr sz="1300" b="0">
                <a:solidFill>
                  <a:srgbClr val="475569"/>
                </a:solidFill>
                <a:latin typeface="Archivo"/>
              </a:rPr>
              <a:t>Build diagrams in ink lines on this light panel; use pillar colors only to code Transform, Defend, and Achieve elements.</a:t>
            </a:r>
          </a:p>
        </p:txBody>
      </p:sp>
      <p:sp>
        <p:nvSpPr>
          <p:cNvPr id="8" name="TextBox 7"/>
          <p:cNvSpPr txBox="1"/>
          <p:nvPr/>
        </p:nvSpPr>
        <p:spPr>
          <a:xfrm>
            <a:off x="548640" y="6035040"/>
            <a:ext cx="10972800" cy="365760"/>
          </a:xfrm>
          <a:prstGeom prst="rect">
            <a:avLst/>
          </a:prstGeom>
          <a:noFill/>
        </p:spPr>
        <p:txBody>
          <a:bodyPr wrap="square">
            <a:spAutoFit/>
          </a:bodyPr>
          <a:lstStyle/>
          <a:p>
            <a:pPr algn="l">
              <a:lnSpc>
                <a:spcPct val="100000"/>
              </a:lnSpc>
            </a:pPr>
            <a:r>
              <a:rPr sz="1150" b="0">
                <a:solidFill>
                  <a:srgbClr val="475569"/>
                </a:solidFill>
                <a:latin typeface="Archivo"/>
              </a:rPr>
              <a:t>Figure 1  ·  One-line caption that states what the diagram proves.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3657600" cy="457200"/>
          </a:xfrm>
          <a:prstGeom prst="rect">
            <a:avLst/>
          </a:prstGeom>
          <a:noFill/>
        </p:spPr>
        <p:txBody>
          <a:bodyPr wrap="square">
            <a:spAutoFit/>
          </a:bodyPr>
          <a:lstStyle/>
          <a:p>
            <a:pPr algn="l">
              <a:lnSpc>
                <a:spcPct val="100000"/>
              </a:lnSpc>
            </a:pPr>
            <a:r>
              <a:rPr sz="1200" b="1">
                <a:solidFill>
                  <a:srgbClr val="0A0E1A"/>
                </a:solidFill>
                <a:latin typeface="Archivo"/>
              </a:rPr>
              <a:t>bostoncyber</a:t>
            </a:r>
            <a:r>
              <a:rPr sz="1200" b="1">
                <a:solidFill>
                  <a:srgbClr val="FF3B30"/>
                </a:solidFill>
                <a:latin typeface="Archivo"/>
              </a:rPr>
              <a:t>x</a:t>
            </a:r>
          </a:p>
        </p:txBody>
      </p:sp>
      <p:sp>
        <p:nvSpPr>
          <p:cNvPr id="3" name="TextBox 2"/>
          <p:cNvSpPr txBox="1"/>
          <p:nvPr/>
        </p:nvSpPr>
        <p:spPr>
          <a:xfrm>
            <a:off x="10241280" y="6419088"/>
            <a:ext cx="1463040" cy="365760"/>
          </a:xfrm>
          <a:prstGeom prst="rect">
            <a:avLst/>
          </a:prstGeom>
          <a:noFill/>
        </p:spPr>
        <p:txBody>
          <a:bodyPr wrap="square">
            <a:spAutoFit/>
          </a:bodyPr>
          <a:lstStyle/>
          <a:p>
            <a:pPr algn="r">
              <a:lnSpc>
                <a:spcPct val="100000"/>
              </a:lnSpc>
            </a:pPr>
            <a:r>
              <a:rPr sz="1000" b="0">
                <a:solidFill>
                  <a:srgbClr val="475569"/>
                </a:solidFill>
                <a:latin typeface="Archivo"/>
              </a:rPr>
              <a:t>13</a:t>
            </a:r>
          </a:p>
        </p:txBody>
      </p:sp>
      <p:sp>
        <p:nvSpPr>
          <p:cNvPr id="4" name="TextBox 3"/>
          <p:cNvSpPr txBox="1"/>
          <p:nvPr/>
        </p:nvSpPr>
        <p:spPr>
          <a:xfrm>
            <a:off x="548640" y="502920"/>
            <a:ext cx="7315200" cy="365760"/>
          </a:xfrm>
          <a:prstGeom prst="rect">
            <a:avLst/>
          </a:prstGeom>
          <a:noFill/>
        </p:spPr>
        <p:txBody>
          <a:bodyPr wrap="square">
            <a:spAutoFit/>
          </a:bodyPr>
          <a:lstStyle/>
          <a:p>
            <a:pPr algn="l">
              <a:lnSpc>
                <a:spcPct val="100000"/>
              </a:lnSpc>
            </a:pPr>
            <a:r>
              <a:rPr sz="1250" b="1">
                <a:solidFill>
                  <a:srgbClr val="FF3B30"/>
                </a:solidFill>
                <a:latin typeface="Archivo"/>
              </a:rPr>
              <a:t>THE FRAMEWORK</a:t>
            </a:r>
          </a:p>
        </p:txBody>
      </p:sp>
      <p:sp>
        <p:nvSpPr>
          <p:cNvPr id="5" name="TextBox 4"/>
          <p:cNvSpPr txBox="1"/>
          <p:nvPr/>
        </p:nvSpPr>
        <p:spPr>
          <a:xfrm>
            <a:off x="548640" y="914400"/>
            <a:ext cx="10972800" cy="822960"/>
          </a:xfrm>
          <a:prstGeom prst="rect">
            <a:avLst/>
          </a:prstGeom>
          <a:noFill/>
        </p:spPr>
        <p:txBody>
          <a:bodyPr wrap="square">
            <a:spAutoFit/>
          </a:bodyPr>
          <a:lstStyle/>
          <a:p>
            <a:pPr algn="l">
              <a:lnSpc>
                <a:spcPct val="100000"/>
              </a:lnSpc>
            </a:pPr>
            <a:r>
              <a:rPr sz="3000" b="1">
                <a:solidFill>
                  <a:srgbClr val="0A0E1A"/>
                </a:solidFill>
                <a:latin typeface="Archivo"/>
              </a:rPr>
              <a:t>Frameworks pop on white. FORGE, for example.</a:t>
            </a:r>
          </a:p>
        </p:txBody>
      </p:sp>
      <p:sp>
        <p:nvSpPr>
          <p:cNvPr id="6" name="Rounded Rectangle 5"/>
          <p:cNvSpPr/>
          <p:nvPr/>
        </p:nvSpPr>
        <p:spPr>
          <a:xfrm>
            <a:off x="548640" y="2103120"/>
            <a:ext cx="2103120" cy="301752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86000"/>
            <a:ext cx="1645920" cy="822960"/>
          </a:xfrm>
          <a:prstGeom prst="rect">
            <a:avLst/>
          </a:prstGeom>
          <a:noFill/>
        </p:spPr>
        <p:txBody>
          <a:bodyPr wrap="square">
            <a:spAutoFit/>
          </a:bodyPr>
          <a:lstStyle/>
          <a:p>
            <a:pPr algn="l">
              <a:lnSpc>
                <a:spcPct val="100000"/>
              </a:lnSpc>
            </a:pPr>
            <a:r>
              <a:rPr sz="3600" b="1">
                <a:solidFill>
                  <a:srgbClr val="FF3B30"/>
                </a:solidFill>
                <a:latin typeface="Archivo"/>
              </a:rPr>
              <a:t>F</a:t>
            </a:r>
          </a:p>
        </p:txBody>
      </p:sp>
      <p:sp>
        <p:nvSpPr>
          <p:cNvPr id="8" name="TextBox 7"/>
          <p:cNvSpPr txBox="1"/>
          <p:nvPr/>
        </p:nvSpPr>
        <p:spPr>
          <a:xfrm>
            <a:off x="777240" y="3200400"/>
            <a:ext cx="1783080" cy="457200"/>
          </a:xfrm>
          <a:prstGeom prst="rect">
            <a:avLst/>
          </a:prstGeom>
          <a:noFill/>
        </p:spPr>
        <p:txBody>
          <a:bodyPr wrap="square">
            <a:spAutoFit/>
          </a:bodyPr>
          <a:lstStyle/>
          <a:p>
            <a:pPr algn="l">
              <a:lnSpc>
                <a:spcPct val="100000"/>
              </a:lnSpc>
            </a:pPr>
            <a:r>
              <a:rPr sz="1350" b="1">
                <a:solidFill>
                  <a:srgbClr val="0A0E1A"/>
                </a:solidFill>
                <a:latin typeface="Archivo"/>
              </a:rPr>
              <a:t>Foundations</a:t>
            </a:r>
          </a:p>
        </p:txBody>
      </p:sp>
      <p:sp>
        <p:nvSpPr>
          <p:cNvPr id="9" name="TextBox 8"/>
          <p:cNvSpPr txBox="1"/>
          <p:nvPr/>
        </p:nvSpPr>
        <p:spPr>
          <a:xfrm>
            <a:off x="777240" y="3657600"/>
            <a:ext cx="1737360" cy="822960"/>
          </a:xfrm>
          <a:prstGeom prst="rect">
            <a:avLst/>
          </a:prstGeom>
          <a:noFill/>
        </p:spPr>
        <p:txBody>
          <a:bodyPr wrap="square">
            <a:spAutoFit/>
          </a:bodyPr>
          <a:lstStyle/>
          <a:p>
            <a:pPr algn="l">
              <a:lnSpc>
                <a:spcPct val="120000"/>
              </a:lnSpc>
            </a:pPr>
            <a:r>
              <a:rPr sz="1100" b="0">
                <a:solidFill>
                  <a:srgbClr val="475569"/>
                </a:solidFill>
                <a:latin typeface="Archivo"/>
              </a:rPr>
              <a:t>Are we ready?</a:t>
            </a:r>
          </a:p>
        </p:txBody>
      </p:sp>
      <p:sp>
        <p:nvSpPr>
          <p:cNvPr id="10" name="Rounded Rectangle 9"/>
          <p:cNvSpPr/>
          <p:nvPr/>
        </p:nvSpPr>
        <p:spPr>
          <a:xfrm>
            <a:off x="2834640" y="2103120"/>
            <a:ext cx="2103120" cy="301752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63240" y="2286000"/>
            <a:ext cx="1645920" cy="822960"/>
          </a:xfrm>
          <a:prstGeom prst="rect">
            <a:avLst/>
          </a:prstGeom>
          <a:noFill/>
        </p:spPr>
        <p:txBody>
          <a:bodyPr wrap="square">
            <a:spAutoFit/>
          </a:bodyPr>
          <a:lstStyle/>
          <a:p>
            <a:pPr algn="l">
              <a:lnSpc>
                <a:spcPct val="100000"/>
              </a:lnSpc>
            </a:pPr>
            <a:r>
              <a:rPr sz="3600" b="1">
                <a:solidFill>
                  <a:srgbClr val="FF3B30"/>
                </a:solidFill>
                <a:latin typeface="Archivo"/>
              </a:rPr>
              <a:t>O</a:t>
            </a:r>
          </a:p>
        </p:txBody>
      </p:sp>
      <p:sp>
        <p:nvSpPr>
          <p:cNvPr id="12" name="TextBox 11"/>
          <p:cNvSpPr txBox="1"/>
          <p:nvPr/>
        </p:nvSpPr>
        <p:spPr>
          <a:xfrm>
            <a:off x="3063240" y="3200400"/>
            <a:ext cx="1783080" cy="457200"/>
          </a:xfrm>
          <a:prstGeom prst="rect">
            <a:avLst/>
          </a:prstGeom>
          <a:noFill/>
        </p:spPr>
        <p:txBody>
          <a:bodyPr wrap="square">
            <a:spAutoFit/>
          </a:bodyPr>
          <a:lstStyle/>
          <a:p>
            <a:pPr algn="l">
              <a:lnSpc>
                <a:spcPct val="100000"/>
              </a:lnSpc>
            </a:pPr>
            <a:r>
              <a:rPr sz="1350" b="1">
                <a:solidFill>
                  <a:srgbClr val="0A0E1A"/>
                </a:solidFill>
                <a:latin typeface="Archivo"/>
              </a:rPr>
              <a:t>Objectives</a:t>
            </a:r>
          </a:p>
        </p:txBody>
      </p:sp>
      <p:sp>
        <p:nvSpPr>
          <p:cNvPr id="13" name="TextBox 12"/>
          <p:cNvSpPr txBox="1"/>
          <p:nvPr/>
        </p:nvSpPr>
        <p:spPr>
          <a:xfrm>
            <a:off x="3063240" y="3657600"/>
            <a:ext cx="1737360" cy="822960"/>
          </a:xfrm>
          <a:prstGeom prst="rect">
            <a:avLst/>
          </a:prstGeom>
          <a:noFill/>
        </p:spPr>
        <p:txBody>
          <a:bodyPr wrap="square">
            <a:spAutoFit/>
          </a:bodyPr>
          <a:lstStyle/>
          <a:p>
            <a:pPr algn="l">
              <a:lnSpc>
                <a:spcPct val="120000"/>
              </a:lnSpc>
            </a:pPr>
            <a:r>
              <a:rPr sz="1100" b="0">
                <a:solidFill>
                  <a:srgbClr val="475569"/>
                </a:solidFill>
                <a:latin typeface="Archivo"/>
              </a:rPr>
              <a:t>What are we solving for?</a:t>
            </a:r>
          </a:p>
        </p:txBody>
      </p:sp>
      <p:sp>
        <p:nvSpPr>
          <p:cNvPr id="14" name="Rounded Rectangle 13"/>
          <p:cNvSpPr/>
          <p:nvPr/>
        </p:nvSpPr>
        <p:spPr>
          <a:xfrm>
            <a:off x="5120640" y="2103120"/>
            <a:ext cx="2103120" cy="301752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9240" y="2286000"/>
            <a:ext cx="1645920" cy="822960"/>
          </a:xfrm>
          <a:prstGeom prst="rect">
            <a:avLst/>
          </a:prstGeom>
          <a:noFill/>
        </p:spPr>
        <p:txBody>
          <a:bodyPr wrap="square">
            <a:spAutoFit/>
          </a:bodyPr>
          <a:lstStyle/>
          <a:p>
            <a:pPr algn="l">
              <a:lnSpc>
                <a:spcPct val="100000"/>
              </a:lnSpc>
            </a:pPr>
            <a:r>
              <a:rPr sz="3600" b="1">
                <a:solidFill>
                  <a:srgbClr val="FF3B30"/>
                </a:solidFill>
                <a:latin typeface="Archivo"/>
              </a:rPr>
              <a:t>R</a:t>
            </a:r>
          </a:p>
        </p:txBody>
      </p:sp>
      <p:sp>
        <p:nvSpPr>
          <p:cNvPr id="16" name="TextBox 15"/>
          <p:cNvSpPr txBox="1"/>
          <p:nvPr/>
        </p:nvSpPr>
        <p:spPr>
          <a:xfrm>
            <a:off x="5349240" y="3200400"/>
            <a:ext cx="1783080" cy="457200"/>
          </a:xfrm>
          <a:prstGeom prst="rect">
            <a:avLst/>
          </a:prstGeom>
          <a:noFill/>
        </p:spPr>
        <p:txBody>
          <a:bodyPr wrap="square">
            <a:spAutoFit/>
          </a:bodyPr>
          <a:lstStyle/>
          <a:p>
            <a:pPr algn="l">
              <a:lnSpc>
                <a:spcPct val="100000"/>
              </a:lnSpc>
            </a:pPr>
            <a:r>
              <a:rPr sz="1350" b="1">
                <a:solidFill>
                  <a:srgbClr val="0A0E1A"/>
                </a:solidFill>
                <a:latin typeface="Archivo"/>
              </a:rPr>
              <a:t>Rapid Pilots</a:t>
            </a:r>
          </a:p>
        </p:txBody>
      </p:sp>
      <p:sp>
        <p:nvSpPr>
          <p:cNvPr id="17" name="TextBox 16"/>
          <p:cNvSpPr txBox="1"/>
          <p:nvPr/>
        </p:nvSpPr>
        <p:spPr>
          <a:xfrm>
            <a:off x="5349240" y="3657600"/>
            <a:ext cx="1737360" cy="822960"/>
          </a:xfrm>
          <a:prstGeom prst="rect">
            <a:avLst/>
          </a:prstGeom>
          <a:noFill/>
        </p:spPr>
        <p:txBody>
          <a:bodyPr wrap="square">
            <a:spAutoFit/>
          </a:bodyPr>
          <a:lstStyle/>
          <a:p>
            <a:pPr algn="l">
              <a:lnSpc>
                <a:spcPct val="120000"/>
              </a:lnSpc>
            </a:pPr>
            <a:r>
              <a:rPr sz="1100" b="0">
                <a:solidFill>
                  <a:srgbClr val="475569"/>
                </a:solidFill>
                <a:latin typeface="Archivo"/>
              </a:rPr>
              <a:t>Can we prove it fast?</a:t>
            </a:r>
          </a:p>
        </p:txBody>
      </p:sp>
      <p:sp>
        <p:nvSpPr>
          <p:cNvPr id="18" name="Rounded Rectangle 17"/>
          <p:cNvSpPr/>
          <p:nvPr/>
        </p:nvSpPr>
        <p:spPr>
          <a:xfrm>
            <a:off x="7406640" y="2103120"/>
            <a:ext cx="2103120" cy="301752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35240" y="2286000"/>
            <a:ext cx="1645920" cy="822960"/>
          </a:xfrm>
          <a:prstGeom prst="rect">
            <a:avLst/>
          </a:prstGeom>
          <a:noFill/>
        </p:spPr>
        <p:txBody>
          <a:bodyPr wrap="square">
            <a:spAutoFit/>
          </a:bodyPr>
          <a:lstStyle/>
          <a:p>
            <a:pPr algn="l">
              <a:lnSpc>
                <a:spcPct val="100000"/>
              </a:lnSpc>
            </a:pPr>
            <a:r>
              <a:rPr sz="3600" b="1">
                <a:solidFill>
                  <a:srgbClr val="FF3B30"/>
                </a:solidFill>
                <a:latin typeface="Archivo"/>
              </a:rPr>
              <a:t>G</a:t>
            </a:r>
          </a:p>
        </p:txBody>
      </p:sp>
      <p:sp>
        <p:nvSpPr>
          <p:cNvPr id="20" name="TextBox 19"/>
          <p:cNvSpPr txBox="1"/>
          <p:nvPr/>
        </p:nvSpPr>
        <p:spPr>
          <a:xfrm>
            <a:off x="7635240" y="3200400"/>
            <a:ext cx="1783080" cy="457200"/>
          </a:xfrm>
          <a:prstGeom prst="rect">
            <a:avLst/>
          </a:prstGeom>
          <a:noFill/>
        </p:spPr>
        <p:txBody>
          <a:bodyPr wrap="square">
            <a:spAutoFit/>
          </a:bodyPr>
          <a:lstStyle/>
          <a:p>
            <a:pPr algn="l">
              <a:lnSpc>
                <a:spcPct val="100000"/>
              </a:lnSpc>
            </a:pPr>
            <a:r>
              <a:rPr sz="1350" b="1">
                <a:solidFill>
                  <a:srgbClr val="0A0E1A"/>
                </a:solidFill>
                <a:latin typeface="Archivo"/>
              </a:rPr>
              <a:t>Growth</a:t>
            </a:r>
          </a:p>
        </p:txBody>
      </p:sp>
      <p:sp>
        <p:nvSpPr>
          <p:cNvPr id="21" name="TextBox 20"/>
          <p:cNvSpPr txBox="1"/>
          <p:nvPr/>
        </p:nvSpPr>
        <p:spPr>
          <a:xfrm>
            <a:off x="7635240" y="3657600"/>
            <a:ext cx="1737360" cy="822960"/>
          </a:xfrm>
          <a:prstGeom prst="rect">
            <a:avLst/>
          </a:prstGeom>
          <a:noFill/>
        </p:spPr>
        <p:txBody>
          <a:bodyPr wrap="square">
            <a:spAutoFit/>
          </a:bodyPr>
          <a:lstStyle/>
          <a:p>
            <a:pPr algn="l">
              <a:lnSpc>
                <a:spcPct val="120000"/>
              </a:lnSpc>
            </a:pPr>
            <a:r>
              <a:rPr sz="1100" b="0">
                <a:solidFill>
                  <a:srgbClr val="475569"/>
                </a:solidFill>
                <a:latin typeface="Archivo"/>
              </a:rPr>
              <a:t>How do we scale it?</a:t>
            </a:r>
          </a:p>
        </p:txBody>
      </p:sp>
      <p:sp>
        <p:nvSpPr>
          <p:cNvPr id="22" name="Rounded Rectangle 21"/>
          <p:cNvSpPr/>
          <p:nvPr/>
        </p:nvSpPr>
        <p:spPr>
          <a:xfrm>
            <a:off x="9692640" y="2103120"/>
            <a:ext cx="2103120" cy="301752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21240" y="2286000"/>
            <a:ext cx="1645920" cy="822960"/>
          </a:xfrm>
          <a:prstGeom prst="rect">
            <a:avLst/>
          </a:prstGeom>
          <a:noFill/>
        </p:spPr>
        <p:txBody>
          <a:bodyPr wrap="square">
            <a:spAutoFit/>
          </a:bodyPr>
          <a:lstStyle/>
          <a:p>
            <a:pPr algn="l">
              <a:lnSpc>
                <a:spcPct val="100000"/>
              </a:lnSpc>
            </a:pPr>
            <a:r>
              <a:rPr sz="3600" b="1">
                <a:solidFill>
                  <a:srgbClr val="FF3B30"/>
                </a:solidFill>
                <a:latin typeface="Archivo"/>
              </a:rPr>
              <a:t>E</a:t>
            </a:r>
          </a:p>
        </p:txBody>
      </p:sp>
      <p:sp>
        <p:nvSpPr>
          <p:cNvPr id="24" name="TextBox 23"/>
          <p:cNvSpPr txBox="1"/>
          <p:nvPr/>
        </p:nvSpPr>
        <p:spPr>
          <a:xfrm>
            <a:off x="9921240" y="3200400"/>
            <a:ext cx="1783080" cy="457200"/>
          </a:xfrm>
          <a:prstGeom prst="rect">
            <a:avLst/>
          </a:prstGeom>
          <a:noFill/>
        </p:spPr>
        <p:txBody>
          <a:bodyPr wrap="square">
            <a:spAutoFit/>
          </a:bodyPr>
          <a:lstStyle/>
          <a:p>
            <a:pPr algn="l">
              <a:lnSpc>
                <a:spcPct val="100000"/>
              </a:lnSpc>
            </a:pPr>
            <a:r>
              <a:rPr sz="1350" b="1">
                <a:solidFill>
                  <a:srgbClr val="0A0E1A"/>
                </a:solidFill>
                <a:latin typeface="Archivo"/>
              </a:rPr>
              <a:t>Enterprise-Grade</a:t>
            </a:r>
          </a:p>
        </p:txBody>
      </p:sp>
      <p:sp>
        <p:nvSpPr>
          <p:cNvPr id="25" name="TextBox 24"/>
          <p:cNvSpPr txBox="1"/>
          <p:nvPr/>
        </p:nvSpPr>
        <p:spPr>
          <a:xfrm>
            <a:off x="9921240" y="3657600"/>
            <a:ext cx="1737360" cy="822960"/>
          </a:xfrm>
          <a:prstGeom prst="rect">
            <a:avLst/>
          </a:prstGeom>
          <a:noFill/>
        </p:spPr>
        <p:txBody>
          <a:bodyPr wrap="square">
            <a:spAutoFit/>
          </a:bodyPr>
          <a:lstStyle/>
          <a:p>
            <a:pPr algn="l">
              <a:lnSpc>
                <a:spcPct val="120000"/>
              </a:lnSpc>
            </a:pPr>
            <a:r>
              <a:rPr sz="1100" b="0">
                <a:solidFill>
                  <a:srgbClr val="475569"/>
                </a:solidFill>
                <a:latin typeface="Archivo"/>
              </a:rPr>
              <a:t>Is it safe long-term?</a:t>
            </a:r>
          </a:p>
        </p:txBody>
      </p:sp>
      <p:sp>
        <p:nvSpPr>
          <p:cNvPr id="26" name="Rounded Rectangle 25"/>
          <p:cNvSpPr/>
          <p:nvPr/>
        </p:nvSpPr>
        <p:spPr>
          <a:xfrm>
            <a:off x="548640" y="5486400"/>
            <a:ext cx="11064240" cy="22860"/>
          </a:xfrm>
          <a:prstGeom prst="roundRect">
            <a:avLst>
              <a:gd name="adj" fmla="val 50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669280"/>
            <a:ext cx="10972800" cy="457200"/>
          </a:xfrm>
          <a:prstGeom prst="rect">
            <a:avLst/>
          </a:prstGeom>
          <a:noFill/>
        </p:spPr>
        <p:txBody>
          <a:bodyPr wrap="square">
            <a:spAutoFit/>
          </a:bodyPr>
          <a:lstStyle/>
          <a:p>
            <a:pPr algn="l">
              <a:lnSpc>
                <a:spcPct val="100000"/>
              </a:lnSpc>
            </a:pPr>
            <a:r>
              <a:rPr sz="1200" b="0">
                <a:solidFill>
                  <a:srgbClr val="475569"/>
                </a:solidFill>
                <a:latin typeface="Archivo"/>
              </a:rPr>
              <a:t>Stage letters take red on white; tile names are ink, questions are slate.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pic>
        <p:nvPicPr>
          <p:cNvPr id="2" name="Picture 1" descr="deck-bg-ghos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548640"/>
            <a:ext cx="3657600" cy="457200"/>
          </a:xfrm>
          <a:prstGeom prst="rect">
            <a:avLst/>
          </a:prstGeom>
          <a:noFill/>
        </p:spPr>
        <p:txBody>
          <a:bodyPr wrap="square">
            <a:spAutoFit/>
          </a:bodyPr>
          <a:lstStyle/>
          <a:p>
            <a:pPr algn="l">
              <a:lnSpc>
                <a:spcPct val="100000"/>
              </a:lnSpc>
            </a:pPr>
            <a:r>
              <a:rPr sz="2000" b="1">
                <a:solidFill>
                  <a:srgbClr val="F8FAFC"/>
                </a:solidFill>
                <a:latin typeface="Archivo"/>
              </a:rPr>
              <a:t>bostoncyber</a:t>
            </a:r>
            <a:r>
              <a:rPr sz="2000" b="1">
                <a:solidFill>
                  <a:srgbClr val="FF3B30"/>
                </a:solidFill>
                <a:latin typeface="Archivo"/>
              </a:rPr>
              <a:t>x</a:t>
            </a:r>
          </a:p>
        </p:txBody>
      </p:sp>
      <p:sp>
        <p:nvSpPr>
          <p:cNvPr id="4" name="TextBox 3"/>
          <p:cNvSpPr txBox="1"/>
          <p:nvPr/>
        </p:nvSpPr>
        <p:spPr>
          <a:xfrm>
            <a:off x="548640" y="2286000"/>
            <a:ext cx="10972800" cy="822960"/>
          </a:xfrm>
          <a:prstGeom prst="rect">
            <a:avLst/>
          </a:prstGeom>
          <a:noFill/>
        </p:spPr>
        <p:txBody>
          <a:bodyPr wrap="square">
            <a:spAutoFit/>
          </a:bodyPr>
          <a:lstStyle/>
          <a:p>
            <a:pPr algn="l">
              <a:lnSpc>
                <a:spcPct val="100000"/>
              </a:lnSpc>
            </a:pPr>
            <a:r>
              <a:rPr sz="4000" b="1">
                <a:solidFill>
                  <a:srgbClr val="F8FAFC"/>
                </a:solidFill>
                <a:latin typeface="Archivo"/>
              </a:rPr>
              <a:t>Closing ask goes here.</a:t>
            </a:r>
          </a:p>
        </p:txBody>
      </p:sp>
      <p:sp>
        <p:nvSpPr>
          <p:cNvPr id="5" name="TextBox 4"/>
          <p:cNvSpPr txBox="1"/>
          <p:nvPr/>
        </p:nvSpPr>
        <p:spPr>
          <a:xfrm>
            <a:off x="566928" y="3291840"/>
            <a:ext cx="10241280" cy="548640"/>
          </a:xfrm>
          <a:prstGeom prst="rect">
            <a:avLst/>
          </a:prstGeom>
          <a:noFill/>
        </p:spPr>
        <p:txBody>
          <a:bodyPr wrap="square">
            <a:spAutoFit/>
          </a:bodyPr>
          <a:lstStyle/>
          <a:p>
            <a:pPr algn="l">
              <a:lnSpc>
                <a:spcPct val="100000"/>
              </a:lnSpc>
            </a:pPr>
            <a:r>
              <a:rPr sz="1500" b="0">
                <a:solidFill>
                  <a:srgbClr val="94A3B8"/>
                </a:solidFill>
                <a:latin typeface="Archivo"/>
              </a:rPr>
              <a:t>One sentence on the next step you want the room to take.</a:t>
            </a:r>
          </a:p>
        </p:txBody>
      </p:sp>
      <p:sp>
        <p:nvSpPr>
          <p:cNvPr id="6" name="Rounded Rectangle 5"/>
          <p:cNvSpPr/>
          <p:nvPr/>
        </p:nvSpPr>
        <p:spPr>
          <a:xfrm>
            <a:off x="566928" y="4114800"/>
            <a:ext cx="2926080" cy="54864"/>
          </a:xfrm>
          <a:prstGeom prst="roundRect">
            <a:avLst>
              <a:gd name="adj" fmla="val 50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126480"/>
            <a:ext cx="11155680" cy="548640"/>
          </a:xfrm>
          <a:prstGeom prst="rect">
            <a:avLst/>
          </a:prstGeom>
          <a:noFill/>
        </p:spPr>
        <p:txBody>
          <a:bodyPr wrap="square">
            <a:spAutoFit/>
          </a:bodyPr>
          <a:lstStyle/>
          <a:p>
            <a:pPr algn="l">
              <a:lnSpc>
                <a:spcPct val="100000"/>
              </a:lnSpc>
            </a:pPr>
            <a:r>
              <a:rPr sz="1250" b="0">
                <a:solidFill>
                  <a:srgbClr val="F8FAFC"/>
                </a:solidFill>
                <a:latin typeface="Archivo"/>
              </a:rPr>
              <a:t>1 Marina Park Drive, Boston, MA 02210  ·  617.241.5445  ·  info@bostoncyberx.com  ·  bostoncyberx.com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pic>
        <p:nvPicPr>
          <p:cNvPr id="2" name="Picture 1" descr="deck-bg-x-br.png"/>
          <p:cNvPicPr>
            <a:picLocks noChangeAspect="1"/>
          </p:cNvPicPr>
          <p:nvPr/>
        </p:nvPicPr>
        <p:blipFill>
          <a:blip r:embed="rId2"/>
          <a:stretch>
            <a:fillRect/>
          </a:stretch>
        </p:blipFill>
        <p:spPr>
          <a:xfrm>
            <a:off x="0" y="0"/>
            <a:ext cx="12191695" cy="6858000"/>
          </a:xfrm>
          <a:prstGeom prst="rect">
            <a:avLst/>
          </a:prstGeom>
        </p:spPr>
      </p:pic>
      <p:pic>
        <p:nvPicPr>
          <p:cNvPr id="3" name="Picture 2" descr="bcx-wordmark-line-dark.png"/>
          <p:cNvPicPr>
            <a:picLocks noChangeAspect="1"/>
          </p:cNvPicPr>
          <p:nvPr/>
        </p:nvPicPr>
        <p:blipFill>
          <a:blip r:embed="rId3"/>
          <a:stretch>
            <a:fillRect/>
          </a:stretch>
        </p:blipFill>
        <p:spPr>
          <a:xfrm>
            <a:off x="502920" y="457200"/>
            <a:ext cx="1828800" cy="502920"/>
          </a:xfrm>
          <a:prstGeom prst="rect">
            <a:avLst/>
          </a:prstGeom>
        </p:spPr>
      </p:pic>
      <p:sp>
        <p:nvSpPr>
          <p:cNvPr id="4" name="TextBox 3"/>
          <p:cNvSpPr txBox="1"/>
          <p:nvPr/>
        </p:nvSpPr>
        <p:spPr>
          <a:xfrm>
            <a:off x="548640" y="2286000"/>
            <a:ext cx="10515600" cy="822960"/>
          </a:xfrm>
          <a:prstGeom prst="rect">
            <a:avLst/>
          </a:prstGeom>
          <a:noFill/>
        </p:spPr>
        <p:txBody>
          <a:bodyPr wrap="square">
            <a:spAutoFit/>
          </a:bodyPr>
          <a:lstStyle/>
          <a:p>
            <a:pPr algn="l">
              <a:lnSpc>
                <a:spcPct val="100000"/>
              </a:lnSpc>
            </a:pPr>
            <a:r>
              <a:rPr sz="4000" b="1">
                <a:solidFill>
                  <a:srgbClr val="F8FAFC"/>
                </a:solidFill>
                <a:latin typeface="Archivo"/>
              </a:rPr>
              <a:t>Closing ask, on the corner X.</a:t>
            </a:r>
          </a:p>
        </p:txBody>
      </p:sp>
      <p:sp>
        <p:nvSpPr>
          <p:cNvPr id="5" name="TextBox 4"/>
          <p:cNvSpPr txBox="1"/>
          <p:nvPr/>
        </p:nvSpPr>
        <p:spPr>
          <a:xfrm>
            <a:off x="566928" y="3291840"/>
            <a:ext cx="9601200" cy="548640"/>
          </a:xfrm>
          <a:prstGeom prst="rect">
            <a:avLst/>
          </a:prstGeom>
          <a:noFill/>
        </p:spPr>
        <p:txBody>
          <a:bodyPr wrap="square">
            <a:spAutoFit/>
          </a:bodyPr>
          <a:lstStyle/>
          <a:p>
            <a:pPr algn="l">
              <a:lnSpc>
                <a:spcPct val="100000"/>
              </a:lnSpc>
            </a:pPr>
            <a:r>
              <a:rPr sz="1500" b="0">
                <a:solidFill>
                  <a:srgbClr val="94A3B8"/>
                </a:solidFill>
                <a:latin typeface="Archivo"/>
              </a:rPr>
              <a:t>One sentence on the next step you want the room to take.</a:t>
            </a:r>
          </a:p>
        </p:txBody>
      </p:sp>
      <p:sp>
        <p:nvSpPr>
          <p:cNvPr id="6" name="Rounded Rectangle 5"/>
          <p:cNvSpPr/>
          <p:nvPr/>
        </p:nvSpPr>
        <p:spPr>
          <a:xfrm>
            <a:off x="566928" y="4114800"/>
            <a:ext cx="2926080" cy="54864"/>
          </a:xfrm>
          <a:prstGeom prst="roundRect">
            <a:avLst>
              <a:gd name="adj" fmla="val 50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126480"/>
            <a:ext cx="11155680" cy="548640"/>
          </a:xfrm>
          <a:prstGeom prst="rect">
            <a:avLst/>
          </a:prstGeom>
          <a:noFill/>
        </p:spPr>
        <p:txBody>
          <a:bodyPr wrap="square">
            <a:spAutoFit/>
          </a:bodyPr>
          <a:lstStyle/>
          <a:p>
            <a:pPr algn="l">
              <a:lnSpc>
                <a:spcPct val="100000"/>
              </a:lnSpc>
            </a:pPr>
            <a:r>
              <a:rPr sz="1250" b="0">
                <a:solidFill>
                  <a:srgbClr val="F8FAFC"/>
                </a:solidFill>
                <a:latin typeface="Archivo"/>
              </a:rPr>
              <a:t>1 Marina Park Drive, Boston, MA 02210  ·  617.241.5445  ·  info@bostoncyberx.com  ·  bostoncyberx.com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pic>
        <p:nvPicPr>
          <p:cNvPr id="2" name="Picture 1" descr="bcx-wordmark-line-dark.png"/>
          <p:cNvPicPr>
            <a:picLocks noChangeAspect="1"/>
          </p:cNvPicPr>
          <p:nvPr/>
        </p:nvPicPr>
        <p:blipFill>
          <a:blip r:embed="rId2"/>
          <a:stretch>
            <a:fillRect/>
          </a:stretch>
        </p:blipFill>
        <p:spPr>
          <a:xfrm>
            <a:off x="3353104" y="2674620"/>
            <a:ext cx="5486400" cy="1508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